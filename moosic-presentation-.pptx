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Playlists</c:v>
                </c:pt>
              </c:strCache>
            </c:strRef>
          </c:tx>
          <c:spPr>
            <a:solidFill>
              <a:srgbClr val="2EE6A6"/>
            </a:solidFill>
            <a:effectLst/>
          </c:spPr>
          <c:invertIfNegative val="0"/>
          <c:dLbls>
            <c:numFmt formatCode="#,##0" sourceLinked="0"/>
            <c:txPr>
              <a:bodyPr/>
              <a:lstStyle/>
              <a:p>
                <a:pPr>
                  <a:defRPr b="1" i="0" strike="noStrike" sz="1600" u="none">
                    <a:solidFill>
                      <a:srgbClr val="1A1730"/>
                    </a:solidFill>
                    <a:latin typeface="Arial"/>
                  </a:defRPr>
                </a:pPr>
              </a:p>
            </c:txPr>
            <c:showLegendKey val="0"/>
            <c:showVal val="1"/>
            <c:showCatName val="0"/>
            <c:showSerName val="0"/>
            <c:showPercent val="0"/>
            <c:showBubbleSize val="0"/>
            <c:showLeaderLines val="0"/>
          </c:dLbls>
          <c:dPt>
            <c:idx val="0"/>
            <c:invertIfNegative val="0"/>
            <c:bubble3D val="0"/>
            <c:spPr>
              <a:solidFill>
                <a:srgbClr val="2EE6A6"/>
              </a:solidFill>
              <a:effectLst/>
            </c:spPr>
          </c:dPt>
          <c:dPt>
            <c:idx val="1"/>
            <c:invertIfNegative val="0"/>
            <c:bubble3D val="0"/>
            <c:spPr>
              <a:solidFill>
                <a:srgbClr val="2EE6A6"/>
              </a:solidFill>
              <a:effectLst/>
            </c:spPr>
          </c:dPt>
          <c:dPt>
            <c:idx val="2"/>
            <c:invertIfNegative val="0"/>
            <c:bubble3D val="0"/>
            <c:spPr>
              <a:solidFill>
                <a:srgbClr val="FFB454"/>
              </a:solidFill>
              <a:effectLst/>
            </c:spPr>
          </c:dPt>
          <c:dPt>
            <c:idx val="3"/>
            <c:invertIfNegative val="0"/>
            <c:bubble3D val="0"/>
            <c:spPr>
              <a:solidFill>
                <a:srgbClr val="FFB454"/>
              </a:solidFill>
              <a:effectLst/>
            </c:spPr>
          </c:dPt>
          <c:dPt>
            <c:idx val="4"/>
            <c:invertIfNegative val="0"/>
            <c:bubble3D val="0"/>
            <c:spPr>
              <a:solidFill>
                <a:srgbClr val="FF5A6E"/>
              </a:solidFill>
              <a:effectLst/>
            </c:spPr>
          </c:dPt>
          <c:cat>
            <c:multiLvlStrRef>
              <c:f>Sheet1!$A$2:$A$6</c:f>
              <c:multiLvlStrCache>
                <c:ptCount val="5"/>
                <c:lvl>
                  <c:pt idx="0">
                    <c:v>Strong</c:v>
                  </c:pt>
                  <c:pt idx="1">
                    <c:v>Good</c:v>
                  </c:pt>
                  <c:pt idx="2">
                    <c:v>OK</c:v>
                  </c:pt>
                  <c:pt idx="3">
                    <c:v>Weak</c:v>
                  </c:pt>
                  <c:pt idx="4">
                    <c:v>Incoherent</c:v>
                  </c:pt>
                </c:lvl>
              </c:multiLvlStrCache>
            </c:multiLvlStrRef>
          </c:cat>
          <c:val>
            <c:numRef>
              <c:f>Sheet1!$B$2:$B$6</c:f>
              <c:numCache>
                <c:formatCode>General</c:formatCode>
                <c:ptCount val="5"/>
                <c:pt idx="0">
                  <c:v>2</c:v>
                </c:pt>
                <c:pt idx="1">
                  <c:v>17</c:v>
                </c:pt>
                <c:pt idx="2">
                  <c:v>19</c:v>
                </c:pt>
                <c:pt idx="3">
                  <c:v>3</c:v>
                </c:pt>
                <c:pt idx="4">
                  <c:v>0</c:v>
                </c:pt>
              </c:numCache>
            </c:numRef>
          </c:val>
        </c:ser>
        <c:dLbls>
          <c:numFmt formatCode="#,##0" sourceLinked="0"/>
          <c:txPr>
            <a:bodyPr/>
            <a:lstStyle/>
            <a:p>
              <a:pPr>
                <a:defRPr b="1" i="0" strike="noStrike" sz="1600" u="none">
                  <a:solidFill>
                    <a:srgbClr val="1A17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1" i="0" u="none" strike="noStrike">
                <a:solidFill>
                  <a:srgbClr val="1A1730"/>
                </a:solidFill>
                <a:latin typeface="Arial"/>
              </a:defRPr>
            </a:pPr>
            <a:endParaRPr lang="en-US"/>
          </a:p>
        </c:txPr>
        <c:crossAx val="2094734552"/>
        <c:crosses val="autoZero"/>
        <c:auto val="1"/>
        <c:lblAlgn val="ctr"/>
        <c:noMultiLvlLbl val="1"/>
      </c:catAx>
      <c:valAx>
        <c:axId val="2094734552"/>
        <c:scaling>
          <c:orientation val="minMax"/>
          <c:max val="22"/>
          <c:min val="0"/>
        </c:scaling>
        <c:delete val="0"/>
        <c:axPos val="l"/>
        <c:majorGridlines>
          <c:spPr>
            <a:ln w="6350" cap="flat">
              <a:solidFill>
                <a:srgbClr val="E4DE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B85A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AF8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seconds] Hi everyone. We were asked one question: can machine learning replace the experts who hand-curate your playlists? Over the next five minutes I'll show you our prototype, give you an honest read on how well it works, and end with a clear recommendation. Short version: ML scales beautifully, but it's not yet ready to fully replace your curators. Let me show you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If you take one slide from today, take this one. We produced 41 playlists, every one inside your 50 to 250 song requirement. About 88% of songs sit comfortably in their playlist by an objective measure. And critically: zero incoherent playlists, after we applied a smart sub-clustering step I'll show you in a moment. The recommendation in one line: don't replace your curators, augment them. Let the machine do the heavy lifting; let your experts add the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Four-step process. The catalogue is 5,235 songs, each described by 10 Spotify audio features. Step 2: we tested keeping all 10 features versus dropping duration, and dropping it gave measurably cleaner playlists. Step 3: K-Means groups songs by similarity. Because K-Means doesn't respect size limits, we added a custom split-and-merge step. Step 4: one cluster came out as a leftover bucket - songs that didn't fit anywhere well. We split that bucket into smaller sub-groups - and I'll show why that decision matters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seconds] An honest finding: even with everything tuned right, one cluster came out as a 'leftover bucket' - 115 songs that didn't fit anywhere well. We had three options. Option 1: keep it as-is. Result: one incoherent playlist users will skip. Option 2: drop those 115 songs. Our instructor's suggestion. Cleaner, but loses 2 percent of the catalogue. Option 3 - which we recommend: take those 115 songs and run K-Means on them again to split into 2-3 smaller, tighter sub-playlists. Same coherence win as dropping, but zero songs lost. This is why our final number is 41 playlists, not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After the sub-clustering fix, the quality picture is much cleaner. 2 strong playlists, 17 good, 19 acceptable, 3 weak, zero incoherent. Translated to action: 19 ship-ready, 19 need light touch-up, 3 need real refinement. Compared to before the sub-clustering step, we doubled the 'strong + good' count and eliminated the bad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seconds] Partially yes. The algorithm gets the sonic side - energy, tempo, instrumentation, mood. But it misses everything on the right: language, genre conventions, era, cultural context, and crucially what listeners actually play together. An Arabic pop song and an English pop song with identical audio profiles get grouped together. Audio features are necessary but not sufficient for great playlists.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K-Means strengths: fast, interpretable, reproducible, free. Perfect for a prototype. Weaknesses: it forces every song into a group, which created our leftover bucket. It needs us to choose the playlist count manually, ignores genre and culture, and doesn't respect size rules without our custom step. Verdict: great for version one. For production we'd benchmark alternatives like hierarchical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seconds] Five next steps in impact order. First: add metadata - genre tags alone would likely double our strong + good count. Second: a quick win, hybrid curation - a day of expert review beats months of building. Third: capture listening data once you have users. Fourth: benchmark other algorithms. Fifth: A/B test ML vs curated playlists with real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seconds] To close: don't replace your curators, augment them. The machine groups thousands of songs in seconds; your experts spend a day refining. That's how you scale without sacrificing quality.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2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5000"/>
          </a:blip>
          <a:stretch>
            <a:fillRect/>
          </a:stretch>
        </p:blipFill>
        <p:spPr>
          <a:xfrm>
            <a:off x="8595360" y="1188720"/>
            <a:ext cx="4572000" cy="4572000"/>
          </a:xfrm>
          <a:prstGeom prst="rect">
            <a:avLst/>
          </a:prstGeom>
        </p:spPr>
      </p:pic>
      <p:pic>
        <p:nvPicPr>
          <p:cNvPr id="3" name="Image 1" descr="preencoded.png">    </p:cNvPr>
          <p:cNvPicPr>
            <a:picLocks noChangeAspect="1"/>
          </p:cNvPicPr>
          <p:nvPr/>
        </p:nvPicPr>
        <p:blipFill>
          <a:blip r:embed="rId2">
            <a:alphaModFix amt="70000"/>
          </a:blip>
          <a:stretch>
            <a:fillRect/>
          </a:stretch>
        </p:blipFill>
        <p:spPr>
          <a:xfrm>
            <a:off x="0" y="5394960"/>
            <a:ext cx="12188952" cy="1463040"/>
          </a:xfrm>
          <a:prstGeom prst="rect">
            <a:avLst/>
          </a:prstGeom>
        </p:spPr>
      </p:pic>
      <p:pic>
        <p:nvPicPr>
          <p:cNvPr id="4" name="Image 2" descr="preencoded.png">    </p:cNvPr>
          <p:cNvPicPr>
            <a:picLocks noChangeAspect="1"/>
          </p:cNvPicPr>
          <p:nvPr/>
        </p:nvPicPr>
        <p:blipFill>
          <a:blip r:embed="rId3"/>
          <a:stretch>
            <a:fillRect/>
          </a:stretch>
        </p:blipFill>
        <p:spPr>
          <a:xfrm>
            <a:off x="731520" y="1371600"/>
            <a:ext cx="365760" cy="365760"/>
          </a:xfrm>
          <a:prstGeom prst="rect">
            <a:avLst/>
          </a:prstGeom>
        </p:spPr>
      </p:pic>
      <p:sp>
        <p:nvSpPr>
          <p:cNvPr id="5" name="Text 0"/>
          <p:cNvSpPr/>
          <p:nvPr/>
        </p:nvSpPr>
        <p:spPr>
          <a:xfrm>
            <a:off x="1234440" y="1371600"/>
            <a:ext cx="8229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DATA SCIENCE PROTOTYPE  ·  INTERNAL REVIEW</a:t>
            </a:r>
            <a:endParaRPr lang="en-US" sz="1300" dirty="0"/>
          </a:p>
        </p:txBody>
      </p:sp>
      <p:sp>
        <p:nvSpPr>
          <p:cNvPr id="6" name="Text 1"/>
          <p:cNvSpPr/>
          <p:nvPr/>
        </p:nvSpPr>
        <p:spPr>
          <a:xfrm>
            <a:off x="731520" y="2011680"/>
            <a:ext cx="8686800" cy="2194560"/>
          </a:xfrm>
          <a:prstGeom prst="rect">
            <a:avLst/>
          </a:prstGeom>
          <a:noFill/>
          <a:ln/>
        </p:spPr>
        <p:txBody>
          <a:bodyPr wrap="square" rtlCol="0" anchor="ctr"/>
          <a:lstStyle/>
          <a:p>
            <a:pPr indent="0" marL="0">
              <a:lnSpc>
                <a:spcPct val="95000"/>
              </a:lnSpc>
              <a:buNone/>
            </a:pPr>
            <a:r>
              <a:rPr lang="en-US" sz="5800" b="1" dirty="0">
                <a:solidFill>
                  <a:srgbClr val="FFFFFF"/>
                </a:solidFill>
                <a:latin typeface="Cambria" pitchFamily="34" charset="0"/>
                <a:ea typeface="Cambria" pitchFamily="34" charset="-122"/>
                <a:cs typeface="Cambria" pitchFamily="34" charset="-120"/>
              </a:rPr>
              <a:t>Can a machine</a:t>
            </a:r>
            <a:endParaRPr lang="en-US" sz="5800" dirty="0"/>
          </a:p>
          <a:p>
            <a:pPr indent="0" marL="0">
              <a:lnSpc>
                <a:spcPct val="95000"/>
              </a:lnSpc>
              <a:buNone/>
            </a:pPr>
            <a:r>
              <a:rPr lang="en-US" sz="5800" b="1" dirty="0">
                <a:solidFill>
                  <a:srgbClr val="FFFFFF"/>
                </a:solidFill>
                <a:latin typeface="Cambria" pitchFamily="34" charset="0"/>
                <a:ea typeface="Cambria" pitchFamily="34" charset="-122"/>
                <a:cs typeface="Cambria" pitchFamily="34" charset="-120"/>
              </a:rPr>
              <a:t>build the playlist?</a:t>
            </a:r>
            <a:endParaRPr lang="en-US" sz="5800" dirty="0"/>
          </a:p>
        </p:txBody>
      </p:sp>
      <p:sp>
        <p:nvSpPr>
          <p:cNvPr id="7" name="Text 2"/>
          <p:cNvSpPr/>
          <p:nvPr/>
        </p:nvSpPr>
        <p:spPr>
          <a:xfrm>
            <a:off x="749808" y="4343400"/>
            <a:ext cx="8229600" cy="457200"/>
          </a:xfrm>
          <a:prstGeom prst="rect">
            <a:avLst/>
          </a:prstGeom>
          <a:noFill/>
          <a:ln/>
        </p:spPr>
        <p:txBody>
          <a:bodyPr wrap="square" rtlCol="0" anchor="ctr"/>
          <a:lstStyle/>
          <a:p>
            <a:pPr indent="0" marL="0">
              <a:buNone/>
            </a:pPr>
            <a:r>
              <a:rPr lang="en-US" sz="2000" dirty="0">
                <a:solidFill>
                  <a:srgbClr val="A29BFE"/>
                </a:solidFill>
                <a:latin typeface="Calibri" pitchFamily="34" charset="0"/>
                <a:ea typeface="Calibri" pitchFamily="34" charset="-122"/>
                <a:cs typeface="Calibri" pitchFamily="34" charset="-120"/>
              </a:rPr>
              <a:t>Findings from a clustering prototype on 5,235 songs</a:t>
            </a:r>
            <a:endParaRPr lang="en-US" sz="2000" dirty="0"/>
          </a:p>
        </p:txBody>
      </p:sp>
      <p:sp>
        <p:nvSpPr>
          <p:cNvPr id="8" name="Text 3"/>
          <p:cNvSpPr/>
          <p:nvPr/>
        </p:nvSpPr>
        <p:spPr>
          <a:xfrm>
            <a:off x="749808" y="4892040"/>
            <a:ext cx="8229600" cy="365760"/>
          </a:xfrm>
          <a:prstGeom prst="rect">
            <a:avLst/>
          </a:prstGeom>
          <a:noFill/>
          <a:ln/>
        </p:spPr>
        <p:txBody>
          <a:bodyPr wrap="square" rtlCol="0" anchor="ctr"/>
          <a:lstStyle/>
          <a:p>
            <a:pPr indent="0" marL="0">
              <a:buNone/>
            </a:pPr>
            <a:r>
              <a:rPr lang="en-US" sz="1300" dirty="0">
                <a:solidFill>
                  <a:srgbClr val="9B95C0"/>
                </a:solidFill>
                <a:latin typeface="Calibri" pitchFamily="34" charset="0"/>
                <a:ea typeface="Calibri" pitchFamily="34" charset="-122"/>
                <a:cs typeface="Calibri" pitchFamily="34" charset="-120"/>
              </a:rPr>
              <a:t>Data Science Team  ·  Prepared for the Moosic founding team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THE BOTTOM LINE</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3000" b="1" dirty="0">
                <a:solidFill>
                  <a:srgbClr val="1A1730"/>
                </a:solidFill>
                <a:latin typeface="Cambria" pitchFamily="34" charset="0"/>
                <a:ea typeface="Cambria" pitchFamily="34" charset="-122"/>
                <a:cs typeface="Cambria" pitchFamily="34" charset="-120"/>
              </a:rPr>
              <a:t>If you remember one slide, this is it</a:t>
            </a:r>
            <a:endParaRPr lang="en-US" sz="3000" dirty="0"/>
          </a:p>
        </p:txBody>
      </p:sp>
      <p:sp>
        <p:nvSpPr>
          <p:cNvPr id="4" name="Shape 2"/>
          <p:cNvSpPr/>
          <p:nvPr/>
        </p:nvSpPr>
        <p:spPr>
          <a:xfrm>
            <a:off x="731520" y="1691640"/>
            <a:ext cx="10725912" cy="2148840"/>
          </a:xfrm>
          <a:prstGeom prst="roundRect">
            <a:avLst>
              <a:gd name="adj" fmla="val 7660"/>
            </a:avLst>
          </a:prstGeom>
          <a:solidFill>
            <a:srgbClr val="16122B"/>
          </a:solidFill>
          <a:ln w="12700">
            <a:solidFill>
              <a:srgbClr val="16122B"/>
            </a:solidFill>
            <a:prstDash val="solid"/>
          </a:ln>
          <a:effectLst>
            <a:outerShdw sx="100000" sy="100000" kx="0" ky="0" algn="bl" rotWithShape="0" blurRad="152400" dist="38100" dir="5400000">
              <a:srgbClr val="000000">
                <a:alpha val="18000"/>
              </a:srgbClr>
            </a:outerShdw>
          </a:effectLst>
        </p:spPr>
      </p:sp>
      <p:pic>
        <p:nvPicPr>
          <p:cNvPr id="5" name="Image 0" descr="preencoded.png">    </p:cNvPr>
          <p:cNvPicPr>
            <a:picLocks noChangeAspect="1"/>
          </p:cNvPicPr>
          <p:nvPr/>
        </p:nvPicPr>
        <p:blipFill>
          <a:blip r:embed="rId1"/>
          <a:stretch>
            <a:fillRect/>
          </a:stretch>
        </p:blipFill>
        <p:spPr>
          <a:xfrm>
            <a:off x="1143000" y="2240280"/>
            <a:ext cx="1143000" cy="1143000"/>
          </a:xfrm>
          <a:prstGeom prst="rect">
            <a:avLst/>
          </a:prstGeom>
        </p:spPr>
      </p:pic>
      <p:sp>
        <p:nvSpPr>
          <p:cNvPr id="6" name="Text 3"/>
          <p:cNvSpPr/>
          <p:nvPr/>
        </p:nvSpPr>
        <p:spPr>
          <a:xfrm>
            <a:off x="2606040" y="2057400"/>
            <a:ext cx="8595360" cy="8686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Don't replace your curators — </a:t>
            </a:r>
            <a:pPr indent="0" marL="0">
              <a:buNone/>
            </a:pPr>
            <a:r>
              <a:rPr lang="en-US" sz="3200" b="1" dirty="0">
                <a:solidFill>
                  <a:srgbClr val="FF6B6B"/>
                </a:solidFill>
                <a:latin typeface="Cambria" pitchFamily="34" charset="0"/>
                <a:ea typeface="Cambria" pitchFamily="34" charset="-122"/>
                <a:cs typeface="Cambria" pitchFamily="34" charset="-120"/>
              </a:rPr>
              <a:t>augment them.</a:t>
            </a:r>
            <a:endParaRPr lang="en-US" sz="3200" dirty="0"/>
          </a:p>
        </p:txBody>
      </p:sp>
      <p:sp>
        <p:nvSpPr>
          <p:cNvPr id="7" name="Text 4"/>
          <p:cNvSpPr/>
          <p:nvPr/>
        </p:nvSpPr>
        <p:spPr>
          <a:xfrm>
            <a:off x="2606040" y="2971800"/>
            <a:ext cx="8503920" cy="731520"/>
          </a:xfrm>
          <a:prstGeom prst="rect">
            <a:avLst/>
          </a:prstGeom>
          <a:noFill/>
          <a:ln/>
        </p:spPr>
        <p:txBody>
          <a:bodyPr wrap="square" lIns="0" tIns="0" rIns="0" bIns="0" rtlCol="0" anchor="ctr"/>
          <a:lstStyle/>
          <a:p>
            <a:pPr indent="0" marL="0">
              <a:buNone/>
            </a:pPr>
            <a:r>
              <a:rPr lang="en-US" sz="1500" dirty="0">
                <a:solidFill>
                  <a:srgbClr val="A29BFE"/>
                </a:solidFill>
                <a:latin typeface="Calibri" pitchFamily="34" charset="0"/>
                <a:ea typeface="Calibri" pitchFamily="34" charset="-122"/>
                <a:cs typeface="Calibri" pitchFamily="34" charset="-120"/>
              </a:rPr>
              <a:t>ML groups 5,000 songs into 41 playlists in seconds. Your experts spend a day refining — not weeks building from scratch.</a:t>
            </a:r>
            <a:endParaRPr lang="en-US" sz="1500" dirty="0"/>
          </a:p>
        </p:txBody>
      </p:sp>
      <p:sp>
        <p:nvSpPr>
          <p:cNvPr id="8" name="Shape 5"/>
          <p:cNvSpPr/>
          <p:nvPr/>
        </p:nvSpPr>
        <p:spPr>
          <a:xfrm>
            <a:off x="731520" y="4114800"/>
            <a:ext cx="3392424" cy="2057400"/>
          </a:xfrm>
          <a:prstGeom prst="roundRect">
            <a:avLst>
              <a:gd name="adj" fmla="val 5333"/>
            </a:avLst>
          </a:prstGeom>
          <a:solidFill>
            <a:srgbClr val="F1ECFA"/>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9" name="Text 6"/>
          <p:cNvSpPr/>
          <p:nvPr/>
        </p:nvSpPr>
        <p:spPr>
          <a:xfrm>
            <a:off x="1051560" y="4297680"/>
            <a:ext cx="2926080" cy="914400"/>
          </a:xfrm>
          <a:prstGeom prst="rect">
            <a:avLst/>
          </a:prstGeom>
          <a:noFill/>
          <a:ln/>
        </p:spPr>
        <p:txBody>
          <a:bodyPr wrap="square" lIns="0" tIns="0" rIns="0" bIns="0" rtlCol="0" anchor="ctr"/>
          <a:lstStyle/>
          <a:p>
            <a:pPr indent="0" marL="0">
              <a:buNone/>
            </a:pPr>
            <a:r>
              <a:rPr lang="en-US" sz="6000" b="1" dirty="0">
                <a:solidFill>
                  <a:srgbClr val="6C5CE7"/>
                </a:solidFill>
                <a:latin typeface="Cambria" pitchFamily="34" charset="0"/>
                <a:ea typeface="Cambria" pitchFamily="34" charset="-122"/>
                <a:cs typeface="Cambria" pitchFamily="34" charset="-120"/>
              </a:rPr>
              <a:t>41</a:t>
            </a:r>
            <a:endParaRPr lang="en-US" sz="6000" dirty="0"/>
          </a:p>
        </p:txBody>
      </p:sp>
      <p:sp>
        <p:nvSpPr>
          <p:cNvPr id="10" name="Text 7"/>
          <p:cNvSpPr/>
          <p:nvPr/>
        </p:nvSpPr>
        <p:spPr>
          <a:xfrm>
            <a:off x="1078992" y="5257800"/>
            <a:ext cx="2926080" cy="365760"/>
          </a:xfrm>
          <a:prstGeom prst="rect">
            <a:avLst/>
          </a:prstGeom>
          <a:noFill/>
          <a:ln/>
        </p:spPr>
        <p:txBody>
          <a:bodyPr wrap="square" lIns="0" tIns="0" rIns="0" bIns="0" rtlCol="0" anchor="ctr"/>
          <a:lstStyle/>
          <a:p>
            <a:pPr indent="0" marL="0">
              <a:buNone/>
            </a:pPr>
            <a:r>
              <a:rPr lang="en-US" sz="1600" b="1" dirty="0">
                <a:solidFill>
                  <a:srgbClr val="1A1730"/>
                </a:solidFill>
                <a:latin typeface="Calibri" pitchFamily="34" charset="0"/>
                <a:ea typeface="Calibri" pitchFamily="34" charset="-122"/>
                <a:cs typeface="Calibri" pitchFamily="34" charset="-120"/>
              </a:rPr>
              <a:t>playlists</a:t>
            </a:r>
            <a:endParaRPr lang="en-US" sz="1600" dirty="0"/>
          </a:p>
        </p:txBody>
      </p:sp>
      <p:sp>
        <p:nvSpPr>
          <p:cNvPr id="11" name="Text 8"/>
          <p:cNvSpPr/>
          <p:nvPr/>
        </p:nvSpPr>
        <p:spPr>
          <a:xfrm>
            <a:off x="1078992" y="5623560"/>
            <a:ext cx="2926080" cy="45720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all 5,230 songs included,</a:t>
            </a:r>
            <a:endParaRPr lang="en-US" sz="1150" dirty="0"/>
          </a:p>
          <a:p>
            <a:pPr indent="0" marL="0">
              <a:buNone/>
            </a:pPr>
            <a:r>
              <a:rPr lang="en-US" sz="1150" dirty="0">
                <a:solidFill>
                  <a:srgbClr val="8B85A8"/>
                </a:solidFill>
                <a:latin typeface="Calibri" pitchFamily="34" charset="0"/>
                <a:ea typeface="Calibri" pitchFamily="34" charset="-122"/>
                <a:cs typeface="Calibri" pitchFamily="34" charset="-120"/>
              </a:rPr>
              <a:t>sizes 50–250 each</a:t>
            </a:r>
            <a:endParaRPr lang="en-US" sz="1150" dirty="0"/>
          </a:p>
        </p:txBody>
      </p:sp>
      <p:sp>
        <p:nvSpPr>
          <p:cNvPr id="12" name="Shape 9"/>
          <p:cNvSpPr/>
          <p:nvPr/>
        </p:nvSpPr>
        <p:spPr>
          <a:xfrm>
            <a:off x="4407408" y="4114800"/>
            <a:ext cx="3392424" cy="2057400"/>
          </a:xfrm>
          <a:prstGeom prst="roundRect">
            <a:avLst>
              <a:gd name="adj" fmla="val 5333"/>
            </a:avLst>
          </a:prstGeom>
          <a:solidFill>
            <a:srgbClr val="F1ECFA"/>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3" name="Text 10"/>
          <p:cNvSpPr/>
          <p:nvPr/>
        </p:nvSpPr>
        <p:spPr>
          <a:xfrm>
            <a:off x="4727448" y="4297680"/>
            <a:ext cx="2926080" cy="914400"/>
          </a:xfrm>
          <a:prstGeom prst="rect">
            <a:avLst/>
          </a:prstGeom>
          <a:noFill/>
          <a:ln/>
        </p:spPr>
        <p:txBody>
          <a:bodyPr wrap="square" lIns="0" tIns="0" rIns="0" bIns="0" rtlCol="0" anchor="ctr"/>
          <a:lstStyle/>
          <a:p>
            <a:pPr indent="0" marL="0">
              <a:buNone/>
            </a:pPr>
            <a:r>
              <a:rPr lang="en-US" sz="6000" b="1" dirty="0">
                <a:solidFill>
                  <a:srgbClr val="10B981"/>
                </a:solidFill>
                <a:latin typeface="Cambria" pitchFamily="34" charset="0"/>
                <a:ea typeface="Cambria" pitchFamily="34" charset="-122"/>
                <a:cs typeface="Cambria" pitchFamily="34" charset="-120"/>
              </a:rPr>
              <a:t>88%</a:t>
            </a:r>
            <a:endParaRPr lang="en-US" sz="6000" dirty="0"/>
          </a:p>
        </p:txBody>
      </p:sp>
      <p:sp>
        <p:nvSpPr>
          <p:cNvPr id="14" name="Text 11"/>
          <p:cNvSpPr/>
          <p:nvPr/>
        </p:nvSpPr>
        <p:spPr>
          <a:xfrm>
            <a:off x="4754880" y="5257800"/>
            <a:ext cx="2926080" cy="365760"/>
          </a:xfrm>
          <a:prstGeom prst="rect">
            <a:avLst/>
          </a:prstGeom>
          <a:noFill/>
          <a:ln/>
        </p:spPr>
        <p:txBody>
          <a:bodyPr wrap="square" lIns="0" tIns="0" rIns="0" bIns="0" rtlCol="0" anchor="ctr"/>
          <a:lstStyle/>
          <a:p>
            <a:pPr indent="0" marL="0">
              <a:buNone/>
            </a:pPr>
            <a:r>
              <a:rPr lang="en-US" sz="1600" b="1" dirty="0">
                <a:solidFill>
                  <a:srgbClr val="1A1730"/>
                </a:solidFill>
                <a:latin typeface="Calibri" pitchFamily="34" charset="0"/>
                <a:ea typeface="Calibri" pitchFamily="34" charset="-122"/>
                <a:cs typeface="Calibri" pitchFamily="34" charset="-120"/>
              </a:rPr>
              <a:t>songs well-placed</a:t>
            </a:r>
            <a:endParaRPr lang="en-US" sz="1600" dirty="0"/>
          </a:p>
        </p:txBody>
      </p:sp>
      <p:sp>
        <p:nvSpPr>
          <p:cNvPr id="15" name="Text 12"/>
          <p:cNvSpPr/>
          <p:nvPr/>
        </p:nvSpPr>
        <p:spPr>
          <a:xfrm>
            <a:off x="4754880" y="5623560"/>
            <a:ext cx="2926080" cy="45720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by an objective</a:t>
            </a:r>
            <a:endParaRPr lang="en-US" sz="1150" dirty="0"/>
          </a:p>
          <a:p>
            <a:pPr indent="0" marL="0">
              <a:buNone/>
            </a:pPr>
            <a:r>
              <a:rPr lang="en-US" sz="1150" dirty="0">
                <a:solidFill>
                  <a:srgbClr val="8B85A8"/>
                </a:solidFill>
                <a:latin typeface="Calibri" pitchFamily="34" charset="0"/>
                <a:ea typeface="Calibri" pitchFamily="34" charset="-122"/>
                <a:cs typeface="Calibri" pitchFamily="34" charset="-120"/>
              </a:rPr>
              <a:t>coherence score</a:t>
            </a:r>
            <a:endParaRPr lang="en-US" sz="1150" dirty="0"/>
          </a:p>
        </p:txBody>
      </p:sp>
      <p:sp>
        <p:nvSpPr>
          <p:cNvPr id="16" name="Shape 13"/>
          <p:cNvSpPr/>
          <p:nvPr/>
        </p:nvSpPr>
        <p:spPr>
          <a:xfrm>
            <a:off x="8083296" y="4114800"/>
            <a:ext cx="3392424" cy="2057400"/>
          </a:xfrm>
          <a:prstGeom prst="roundRect">
            <a:avLst>
              <a:gd name="adj" fmla="val 5333"/>
            </a:avLst>
          </a:prstGeom>
          <a:solidFill>
            <a:srgbClr val="F1ECFA"/>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7" name="Text 14"/>
          <p:cNvSpPr/>
          <p:nvPr/>
        </p:nvSpPr>
        <p:spPr>
          <a:xfrm>
            <a:off x="8403336" y="4297680"/>
            <a:ext cx="2926080" cy="914400"/>
          </a:xfrm>
          <a:prstGeom prst="rect">
            <a:avLst/>
          </a:prstGeom>
          <a:noFill/>
          <a:ln/>
        </p:spPr>
        <p:txBody>
          <a:bodyPr wrap="square" lIns="0" tIns="0" rIns="0" bIns="0" rtlCol="0" anchor="ctr"/>
          <a:lstStyle/>
          <a:p>
            <a:pPr indent="0" marL="0">
              <a:buNone/>
            </a:pPr>
            <a:r>
              <a:rPr lang="en-US" sz="6000" b="1" dirty="0">
                <a:solidFill>
                  <a:srgbClr val="FF6B6B"/>
                </a:solidFill>
                <a:latin typeface="Cambria" pitchFamily="34" charset="0"/>
                <a:ea typeface="Cambria" pitchFamily="34" charset="-122"/>
                <a:cs typeface="Cambria" pitchFamily="34" charset="-120"/>
              </a:rPr>
              <a:t>0</a:t>
            </a:r>
            <a:endParaRPr lang="en-US" sz="6000" dirty="0"/>
          </a:p>
        </p:txBody>
      </p:sp>
      <p:sp>
        <p:nvSpPr>
          <p:cNvPr id="18" name="Text 15"/>
          <p:cNvSpPr/>
          <p:nvPr/>
        </p:nvSpPr>
        <p:spPr>
          <a:xfrm>
            <a:off x="8430768" y="5257800"/>
            <a:ext cx="2926080" cy="365760"/>
          </a:xfrm>
          <a:prstGeom prst="rect">
            <a:avLst/>
          </a:prstGeom>
          <a:noFill/>
          <a:ln/>
        </p:spPr>
        <p:txBody>
          <a:bodyPr wrap="square" lIns="0" tIns="0" rIns="0" bIns="0" rtlCol="0" anchor="ctr"/>
          <a:lstStyle/>
          <a:p>
            <a:pPr indent="0" marL="0">
              <a:buNone/>
            </a:pPr>
            <a:r>
              <a:rPr lang="en-US" sz="1600" b="1" dirty="0">
                <a:solidFill>
                  <a:srgbClr val="1A1730"/>
                </a:solidFill>
                <a:latin typeface="Calibri" pitchFamily="34" charset="0"/>
                <a:ea typeface="Calibri" pitchFamily="34" charset="-122"/>
                <a:cs typeface="Calibri" pitchFamily="34" charset="-120"/>
              </a:rPr>
              <a:t>incoherent playlists</a:t>
            </a:r>
            <a:endParaRPr lang="en-US" sz="1600" dirty="0"/>
          </a:p>
        </p:txBody>
      </p:sp>
      <p:sp>
        <p:nvSpPr>
          <p:cNvPr id="19" name="Text 16"/>
          <p:cNvSpPr/>
          <p:nvPr/>
        </p:nvSpPr>
        <p:spPr>
          <a:xfrm>
            <a:off x="8430768" y="5623560"/>
            <a:ext cx="2926080" cy="45720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after sub-clustering</a:t>
            </a:r>
            <a:endParaRPr lang="en-US" sz="1150" dirty="0"/>
          </a:p>
          <a:p>
            <a:pPr indent="0" marL="0">
              <a:buNone/>
            </a:pPr>
            <a:r>
              <a:rPr lang="en-US" sz="1150" dirty="0">
                <a:solidFill>
                  <a:srgbClr val="8B85A8"/>
                </a:solidFill>
                <a:latin typeface="Calibri" pitchFamily="34" charset="0"/>
                <a:ea typeface="Calibri" pitchFamily="34" charset="-122"/>
                <a:cs typeface="Calibri" pitchFamily="34" charset="-120"/>
              </a:rPr>
              <a:t>the leftover bucket</a:t>
            </a:r>
            <a:endParaRPr lang="en-US" sz="1150" dirty="0"/>
          </a:p>
        </p:txBody>
      </p:sp>
      <p:sp>
        <p:nvSpPr>
          <p:cNvPr id="20" name="Text 17"/>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2</a:t>
            </a:r>
            <a:endParaRPr lang="en-US" sz="1100" dirty="0"/>
          </a:p>
        </p:txBody>
      </p:sp>
      <p:sp>
        <p:nvSpPr>
          <p:cNvPr id="21" name="Text 18"/>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Q1  ·  HOW WE BUILT IT</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3000" b="1" dirty="0">
                <a:solidFill>
                  <a:srgbClr val="1A1730"/>
                </a:solidFill>
                <a:latin typeface="Cambria" pitchFamily="34" charset="0"/>
                <a:ea typeface="Cambria" pitchFamily="34" charset="-122"/>
                <a:cs typeface="Cambria" pitchFamily="34" charset="-120"/>
              </a:rPr>
              <a:t>From 5,235 raw songs to 41 organised playlists</a:t>
            </a:r>
            <a:endParaRPr lang="en-US" sz="3000" dirty="0"/>
          </a:p>
        </p:txBody>
      </p:sp>
      <p:sp>
        <p:nvSpPr>
          <p:cNvPr id="4" name="Shape 2"/>
          <p:cNvSpPr/>
          <p:nvPr/>
        </p:nvSpPr>
        <p:spPr>
          <a:xfrm>
            <a:off x="731520" y="1691640"/>
            <a:ext cx="2468880" cy="2468880"/>
          </a:xfrm>
          <a:prstGeom prst="roundRect">
            <a:avLst>
              <a:gd name="adj" fmla="val 5185"/>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5" name="Shape 3"/>
          <p:cNvSpPr/>
          <p:nvPr/>
        </p:nvSpPr>
        <p:spPr>
          <a:xfrm>
            <a:off x="960120" y="1920240"/>
            <a:ext cx="777240" cy="777240"/>
          </a:xfrm>
          <a:prstGeom prst="ellipse">
            <a:avLst/>
          </a:prstGeom>
          <a:solidFill>
            <a:srgbClr val="6C5CE7"/>
          </a:solidFill>
          <a:ln w="12700">
            <a:solidFill>
              <a:srgbClr val="6C5CE7"/>
            </a:solidFill>
            <a:prstDash val="solid"/>
          </a:ln>
        </p:spPr>
      </p:sp>
      <p:pic>
        <p:nvPicPr>
          <p:cNvPr id="6" name="Image 0" descr="preencoded.png">    </p:cNvPr>
          <p:cNvPicPr>
            <a:picLocks noChangeAspect="1"/>
          </p:cNvPicPr>
          <p:nvPr/>
        </p:nvPicPr>
        <p:blipFill>
          <a:blip r:embed="rId1"/>
          <a:stretch>
            <a:fillRect/>
          </a:stretch>
        </p:blipFill>
        <p:spPr>
          <a:xfrm>
            <a:off x="1152144" y="2112264"/>
            <a:ext cx="393192" cy="393192"/>
          </a:xfrm>
          <a:prstGeom prst="rect">
            <a:avLst/>
          </a:prstGeom>
        </p:spPr>
      </p:pic>
      <p:sp>
        <p:nvSpPr>
          <p:cNvPr id="7" name="Text 4"/>
          <p:cNvSpPr/>
          <p:nvPr/>
        </p:nvSpPr>
        <p:spPr>
          <a:xfrm>
            <a:off x="960120" y="2834640"/>
            <a:ext cx="2103120" cy="457200"/>
          </a:xfrm>
          <a:prstGeom prst="rect">
            <a:avLst/>
          </a:prstGeom>
          <a:noFill/>
          <a:ln/>
        </p:spPr>
        <p:txBody>
          <a:bodyPr wrap="square" lIns="0" tIns="0" rIns="0" bIns="0" rtlCol="0" anchor="ctr"/>
          <a:lstStyle/>
          <a:p>
            <a:pPr indent="0" marL="0">
              <a:buNone/>
            </a:pPr>
            <a:r>
              <a:rPr lang="en-US" sz="1800" b="1" dirty="0">
                <a:solidFill>
                  <a:srgbClr val="6C5CE7"/>
                </a:solidFill>
                <a:latin typeface="Cambria" pitchFamily="34" charset="0"/>
                <a:ea typeface="Cambria" pitchFamily="34" charset="-122"/>
                <a:cs typeface="Cambria" pitchFamily="34" charset="-120"/>
              </a:rPr>
              <a:t>5,235 songs</a:t>
            </a:r>
            <a:endParaRPr lang="en-US" sz="1800" dirty="0"/>
          </a:p>
        </p:txBody>
      </p:sp>
      <p:sp>
        <p:nvSpPr>
          <p:cNvPr id="8" name="Text 5"/>
          <p:cNvSpPr/>
          <p:nvPr/>
        </p:nvSpPr>
        <p:spPr>
          <a:xfrm>
            <a:off x="960120" y="3291840"/>
            <a:ext cx="2103120" cy="777240"/>
          </a:xfrm>
          <a:prstGeom prst="rect">
            <a:avLst/>
          </a:prstGeom>
          <a:noFill/>
          <a:ln/>
        </p:spPr>
        <p:txBody>
          <a:bodyPr wrap="square" lIns="0" tIns="0" rIns="0" bIns="0" rtlCol="0" anchor="ctr"/>
          <a:lstStyle/>
          <a:p>
            <a:pPr indent="0" marL="0">
              <a:buNone/>
            </a:pPr>
            <a:r>
              <a:rPr lang="en-US" sz="1200" dirty="0">
                <a:solidFill>
                  <a:srgbClr val="1A1730"/>
                </a:solidFill>
                <a:latin typeface="Calibri" pitchFamily="34" charset="0"/>
                <a:ea typeface="Calibri" pitchFamily="34" charset="-122"/>
                <a:cs typeface="Calibri" pitchFamily="34" charset="-120"/>
              </a:rPr>
              <a:t>Spotify catalogue,</a:t>
            </a:r>
            <a:endParaRPr lang="en-US" sz="1200" dirty="0"/>
          </a:p>
          <a:p>
            <a:pPr indent="0" marL="0">
              <a:buNone/>
            </a:pPr>
            <a:r>
              <a:rPr lang="en-US" sz="1200" dirty="0">
                <a:solidFill>
                  <a:srgbClr val="1A1730"/>
                </a:solidFill>
                <a:latin typeface="Calibri" pitchFamily="34" charset="0"/>
                <a:ea typeface="Calibri" pitchFamily="34" charset="-122"/>
                <a:cs typeface="Calibri" pitchFamily="34" charset="-120"/>
              </a:rPr>
              <a:t>10 audio features each</a:t>
            </a:r>
            <a:endParaRPr lang="en-US" sz="1200" dirty="0"/>
          </a:p>
        </p:txBody>
      </p:sp>
      <p:pic>
        <p:nvPicPr>
          <p:cNvPr id="9" name="Image 1" descr="preencoded.png">    </p:cNvPr>
          <p:cNvPicPr>
            <a:picLocks noChangeAspect="1"/>
          </p:cNvPicPr>
          <p:nvPr/>
        </p:nvPicPr>
        <p:blipFill>
          <a:blip r:embed="rId2"/>
          <a:stretch>
            <a:fillRect/>
          </a:stretch>
        </p:blipFill>
        <p:spPr>
          <a:xfrm>
            <a:off x="3218688" y="2743200"/>
            <a:ext cx="237744" cy="365760"/>
          </a:xfrm>
          <a:prstGeom prst="rect">
            <a:avLst/>
          </a:prstGeom>
        </p:spPr>
      </p:pic>
      <p:sp>
        <p:nvSpPr>
          <p:cNvPr id="10" name="Shape 6"/>
          <p:cNvSpPr/>
          <p:nvPr/>
        </p:nvSpPr>
        <p:spPr>
          <a:xfrm>
            <a:off x="3474720" y="1691640"/>
            <a:ext cx="2468880" cy="2468880"/>
          </a:xfrm>
          <a:prstGeom prst="roundRect">
            <a:avLst>
              <a:gd name="adj" fmla="val 5185"/>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1" name="Shape 7"/>
          <p:cNvSpPr/>
          <p:nvPr/>
        </p:nvSpPr>
        <p:spPr>
          <a:xfrm>
            <a:off x="3703320" y="1920240"/>
            <a:ext cx="777240" cy="777240"/>
          </a:xfrm>
          <a:prstGeom prst="ellipse">
            <a:avLst/>
          </a:prstGeom>
          <a:solidFill>
            <a:srgbClr val="6C5CE7"/>
          </a:solidFill>
          <a:ln w="12700">
            <a:solidFill>
              <a:srgbClr val="6C5CE7"/>
            </a:solidFill>
            <a:prstDash val="solid"/>
          </a:ln>
        </p:spPr>
      </p:sp>
      <p:pic>
        <p:nvPicPr>
          <p:cNvPr id="12" name="Image 2" descr="preencoded.png">    </p:cNvPr>
          <p:cNvPicPr>
            <a:picLocks noChangeAspect="1"/>
          </p:cNvPicPr>
          <p:nvPr/>
        </p:nvPicPr>
        <p:blipFill>
          <a:blip r:embed="rId3"/>
          <a:stretch>
            <a:fillRect/>
          </a:stretch>
        </p:blipFill>
        <p:spPr>
          <a:xfrm>
            <a:off x="3895344" y="2112264"/>
            <a:ext cx="393192" cy="393192"/>
          </a:xfrm>
          <a:prstGeom prst="rect">
            <a:avLst/>
          </a:prstGeom>
        </p:spPr>
      </p:pic>
      <p:sp>
        <p:nvSpPr>
          <p:cNvPr id="13" name="Text 8"/>
          <p:cNvSpPr/>
          <p:nvPr/>
        </p:nvSpPr>
        <p:spPr>
          <a:xfrm>
            <a:off x="3703320" y="2834640"/>
            <a:ext cx="2103120" cy="457200"/>
          </a:xfrm>
          <a:prstGeom prst="rect">
            <a:avLst/>
          </a:prstGeom>
          <a:noFill/>
          <a:ln/>
        </p:spPr>
        <p:txBody>
          <a:bodyPr wrap="square" lIns="0" tIns="0" rIns="0" bIns="0" rtlCol="0" anchor="ctr"/>
          <a:lstStyle/>
          <a:p>
            <a:pPr indent="0" marL="0">
              <a:buNone/>
            </a:pPr>
            <a:r>
              <a:rPr lang="en-US" sz="1800" b="1" dirty="0">
                <a:solidFill>
                  <a:srgbClr val="6C5CE7"/>
                </a:solidFill>
                <a:latin typeface="Cambria" pitchFamily="34" charset="0"/>
                <a:ea typeface="Cambria" pitchFamily="34" charset="-122"/>
                <a:cs typeface="Cambria" pitchFamily="34" charset="-120"/>
              </a:rPr>
              <a:t>Drop duration</a:t>
            </a:r>
            <a:endParaRPr lang="en-US" sz="1800" dirty="0"/>
          </a:p>
        </p:txBody>
      </p:sp>
      <p:sp>
        <p:nvSpPr>
          <p:cNvPr id="14" name="Text 9"/>
          <p:cNvSpPr/>
          <p:nvPr/>
        </p:nvSpPr>
        <p:spPr>
          <a:xfrm>
            <a:off x="3703320" y="3291840"/>
            <a:ext cx="2103120" cy="777240"/>
          </a:xfrm>
          <a:prstGeom prst="rect">
            <a:avLst/>
          </a:prstGeom>
          <a:noFill/>
          <a:ln/>
        </p:spPr>
        <p:txBody>
          <a:bodyPr wrap="square" lIns="0" tIns="0" rIns="0" bIns="0" rtlCol="0" anchor="ctr"/>
          <a:lstStyle/>
          <a:p>
            <a:pPr indent="0" marL="0">
              <a:buNone/>
            </a:pPr>
            <a:r>
              <a:rPr lang="en-US" sz="1200" dirty="0">
                <a:solidFill>
                  <a:srgbClr val="1A1730"/>
                </a:solidFill>
                <a:latin typeface="Calibri" pitchFamily="34" charset="0"/>
                <a:ea typeface="Calibri" pitchFamily="34" charset="-122"/>
                <a:cs typeface="Calibri" pitchFamily="34" charset="-120"/>
              </a:rPr>
              <a:t>Song length adds noise,</a:t>
            </a:r>
            <a:endParaRPr lang="en-US" sz="1200" dirty="0"/>
          </a:p>
          <a:p>
            <a:pPr indent="0" marL="0">
              <a:buNone/>
            </a:pPr>
            <a:r>
              <a:rPr lang="en-US" sz="1200" dirty="0">
                <a:solidFill>
                  <a:srgbClr val="1A1730"/>
                </a:solidFill>
                <a:latin typeface="Calibri" pitchFamily="34" charset="0"/>
                <a:ea typeface="Calibri" pitchFamily="34" charset="-122"/>
                <a:cs typeface="Calibri" pitchFamily="34" charset="-120"/>
              </a:rPr>
              <a:t>not musical meaning</a:t>
            </a:r>
            <a:endParaRPr lang="en-US" sz="1200" dirty="0"/>
          </a:p>
        </p:txBody>
      </p:sp>
      <p:pic>
        <p:nvPicPr>
          <p:cNvPr id="15" name="Image 3" descr="preencoded.png">    </p:cNvPr>
          <p:cNvPicPr>
            <a:picLocks noChangeAspect="1"/>
          </p:cNvPicPr>
          <p:nvPr/>
        </p:nvPicPr>
        <p:blipFill>
          <a:blip r:embed="rId4"/>
          <a:stretch>
            <a:fillRect/>
          </a:stretch>
        </p:blipFill>
        <p:spPr>
          <a:xfrm>
            <a:off x="5961888" y="2743200"/>
            <a:ext cx="237744" cy="365760"/>
          </a:xfrm>
          <a:prstGeom prst="rect">
            <a:avLst/>
          </a:prstGeom>
        </p:spPr>
      </p:pic>
      <p:sp>
        <p:nvSpPr>
          <p:cNvPr id="16" name="Shape 10"/>
          <p:cNvSpPr/>
          <p:nvPr/>
        </p:nvSpPr>
        <p:spPr>
          <a:xfrm>
            <a:off x="6217920" y="1691640"/>
            <a:ext cx="2468880" cy="2468880"/>
          </a:xfrm>
          <a:prstGeom prst="roundRect">
            <a:avLst>
              <a:gd name="adj" fmla="val 5185"/>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7" name="Shape 11"/>
          <p:cNvSpPr/>
          <p:nvPr/>
        </p:nvSpPr>
        <p:spPr>
          <a:xfrm>
            <a:off x="6446520" y="1920240"/>
            <a:ext cx="777240" cy="777240"/>
          </a:xfrm>
          <a:prstGeom prst="ellipse">
            <a:avLst/>
          </a:prstGeom>
          <a:solidFill>
            <a:srgbClr val="6C5CE7"/>
          </a:solidFill>
          <a:ln w="12700">
            <a:solidFill>
              <a:srgbClr val="6C5CE7"/>
            </a:solidFill>
            <a:prstDash val="solid"/>
          </a:ln>
        </p:spPr>
      </p:sp>
      <p:pic>
        <p:nvPicPr>
          <p:cNvPr id="18" name="Image 4" descr="preencoded.png">    </p:cNvPr>
          <p:cNvPicPr>
            <a:picLocks noChangeAspect="1"/>
          </p:cNvPicPr>
          <p:nvPr/>
        </p:nvPicPr>
        <p:blipFill>
          <a:blip r:embed="rId5"/>
          <a:stretch>
            <a:fillRect/>
          </a:stretch>
        </p:blipFill>
        <p:spPr>
          <a:xfrm>
            <a:off x="6638544" y="2112264"/>
            <a:ext cx="393192" cy="393192"/>
          </a:xfrm>
          <a:prstGeom prst="rect">
            <a:avLst/>
          </a:prstGeom>
        </p:spPr>
      </p:pic>
      <p:sp>
        <p:nvSpPr>
          <p:cNvPr id="19" name="Text 12"/>
          <p:cNvSpPr/>
          <p:nvPr/>
        </p:nvSpPr>
        <p:spPr>
          <a:xfrm>
            <a:off x="6446520" y="2834640"/>
            <a:ext cx="2103120" cy="457200"/>
          </a:xfrm>
          <a:prstGeom prst="rect">
            <a:avLst/>
          </a:prstGeom>
          <a:noFill/>
          <a:ln/>
        </p:spPr>
        <p:txBody>
          <a:bodyPr wrap="square" lIns="0" tIns="0" rIns="0" bIns="0" rtlCol="0" anchor="ctr"/>
          <a:lstStyle/>
          <a:p>
            <a:pPr indent="0" marL="0">
              <a:buNone/>
            </a:pPr>
            <a:r>
              <a:rPr lang="en-US" sz="1800" b="1" dirty="0">
                <a:solidFill>
                  <a:srgbClr val="6C5CE7"/>
                </a:solidFill>
                <a:latin typeface="Cambria" pitchFamily="34" charset="0"/>
                <a:ea typeface="Cambria" pitchFamily="34" charset="-122"/>
                <a:cs typeface="Cambria" pitchFamily="34" charset="-120"/>
              </a:rPr>
              <a:t>Cluster by sound</a:t>
            </a:r>
            <a:endParaRPr lang="en-US" sz="1800" dirty="0"/>
          </a:p>
        </p:txBody>
      </p:sp>
      <p:sp>
        <p:nvSpPr>
          <p:cNvPr id="20" name="Text 13"/>
          <p:cNvSpPr/>
          <p:nvPr/>
        </p:nvSpPr>
        <p:spPr>
          <a:xfrm>
            <a:off x="6446520" y="3291840"/>
            <a:ext cx="2103120" cy="777240"/>
          </a:xfrm>
          <a:prstGeom prst="rect">
            <a:avLst/>
          </a:prstGeom>
          <a:noFill/>
          <a:ln/>
        </p:spPr>
        <p:txBody>
          <a:bodyPr wrap="square" lIns="0" tIns="0" rIns="0" bIns="0" rtlCol="0" anchor="ctr"/>
          <a:lstStyle/>
          <a:p>
            <a:pPr indent="0" marL="0">
              <a:buNone/>
            </a:pPr>
            <a:r>
              <a:rPr lang="en-US" sz="1200" dirty="0">
                <a:solidFill>
                  <a:srgbClr val="1A1730"/>
                </a:solidFill>
                <a:latin typeface="Calibri" pitchFamily="34" charset="0"/>
                <a:ea typeface="Calibri" pitchFamily="34" charset="-122"/>
                <a:cs typeface="Calibri" pitchFamily="34" charset="-120"/>
              </a:rPr>
              <a:t>K-Means on 9 features,</a:t>
            </a:r>
            <a:endParaRPr lang="en-US" sz="1200" dirty="0"/>
          </a:p>
          <a:p>
            <a:pPr indent="0" marL="0">
              <a:buNone/>
            </a:pPr>
            <a:r>
              <a:rPr lang="en-US" sz="1200" dirty="0">
                <a:solidFill>
                  <a:srgbClr val="1A1730"/>
                </a:solidFill>
                <a:latin typeface="Calibri" pitchFamily="34" charset="0"/>
                <a:ea typeface="Calibri" pitchFamily="34" charset="-122"/>
                <a:cs typeface="Calibri" pitchFamily="34" charset="-120"/>
              </a:rPr>
              <a:t>split-merge for size limits</a:t>
            </a:r>
            <a:endParaRPr lang="en-US" sz="1200" dirty="0"/>
          </a:p>
        </p:txBody>
      </p:sp>
      <p:pic>
        <p:nvPicPr>
          <p:cNvPr id="21" name="Image 5" descr="preencoded.png">    </p:cNvPr>
          <p:cNvPicPr>
            <a:picLocks noChangeAspect="1"/>
          </p:cNvPicPr>
          <p:nvPr/>
        </p:nvPicPr>
        <p:blipFill>
          <a:blip r:embed="rId6"/>
          <a:stretch>
            <a:fillRect/>
          </a:stretch>
        </p:blipFill>
        <p:spPr>
          <a:xfrm>
            <a:off x="8705088" y="2743200"/>
            <a:ext cx="237744" cy="365760"/>
          </a:xfrm>
          <a:prstGeom prst="rect">
            <a:avLst/>
          </a:prstGeom>
        </p:spPr>
      </p:pic>
      <p:sp>
        <p:nvSpPr>
          <p:cNvPr id="22" name="Shape 14"/>
          <p:cNvSpPr/>
          <p:nvPr/>
        </p:nvSpPr>
        <p:spPr>
          <a:xfrm>
            <a:off x="8961120" y="1691640"/>
            <a:ext cx="2468880" cy="2468880"/>
          </a:xfrm>
          <a:prstGeom prst="roundRect">
            <a:avLst>
              <a:gd name="adj" fmla="val 5185"/>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23" name="Shape 15"/>
          <p:cNvSpPr/>
          <p:nvPr/>
        </p:nvSpPr>
        <p:spPr>
          <a:xfrm>
            <a:off x="9189720" y="1920240"/>
            <a:ext cx="777240" cy="777240"/>
          </a:xfrm>
          <a:prstGeom prst="ellipse">
            <a:avLst/>
          </a:prstGeom>
          <a:solidFill>
            <a:srgbClr val="6C5CE7"/>
          </a:solidFill>
          <a:ln w="12700">
            <a:solidFill>
              <a:srgbClr val="6C5CE7"/>
            </a:solidFill>
            <a:prstDash val="solid"/>
          </a:ln>
        </p:spPr>
      </p:sp>
      <p:pic>
        <p:nvPicPr>
          <p:cNvPr id="24" name="Image 6" descr="preencoded.png">    </p:cNvPr>
          <p:cNvPicPr>
            <a:picLocks noChangeAspect="1"/>
          </p:cNvPicPr>
          <p:nvPr/>
        </p:nvPicPr>
        <p:blipFill>
          <a:blip r:embed="rId7"/>
          <a:stretch>
            <a:fillRect/>
          </a:stretch>
        </p:blipFill>
        <p:spPr>
          <a:xfrm>
            <a:off x="9381744" y="2112264"/>
            <a:ext cx="393192" cy="393192"/>
          </a:xfrm>
          <a:prstGeom prst="rect">
            <a:avLst/>
          </a:prstGeom>
        </p:spPr>
      </p:pic>
      <p:sp>
        <p:nvSpPr>
          <p:cNvPr id="25" name="Text 16"/>
          <p:cNvSpPr/>
          <p:nvPr/>
        </p:nvSpPr>
        <p:spPr>
          <a:xfrm>
            <a:off x="9189720" y="2834640"/>
            <a:ext cx="2103120" cy="457200"/>
          </a:xfrm>
          <a:prstGeom prst="rect">
            <a:avLst/>
          </a:prstGeom>
          <a:noFill/>
          <a:ln/>
        </p:spPr>
        <p:txBody>
          <a:bodyPr wrap="square" lIns="0" tIns="0" rIns="0" bIns="0" rtlCol="0" anchor="ctr"/>
          <a:lstStyle/>
          <a:p>
            <a:pPr indent="0" marL="0">
              <a:buNone/>
            </a:pPr>
            <a:r>
              <a:rPr lang="en-US" sz="1800" b="1" dirty="0">
                <a:solidFill>
                  <a:srgbClr val="6C5CE7"/>
                </a:solidFill>
                <a:latin typeface="Cambria" pitchFamily="34" charset="0"/>
                <a:ea typeface="Cambria" pitchFamily="34" charset="-122"/>
                <a:cs typeface="Cambria" pitchFamily="34" charset="-120"/>
              </a:rPr>
              <a:t>Refine &amp; deliver</a:t>
            </a:r>
            <a:endParaRPr lang="en-US" sz="1800" dirty="0"/>
          </a:p>
        </p:txBody>
      </p:sp>
      <p:sp>
        <p:nvSpPr>
          <p:cNvPr id="26" name="Text 17"/>
          <p:cNvSpPr/>
          <p:nvPr/>
        </p:nvSpPr>
        <p:spPr>
          <a:xfrm>
            <a:off x="9189720" y="3291840"/>
            <a:ext cx="2103120" cy="777240"/>
          </a:xfrm>
          <a:prstGeom prst="rect">
            <a:avLst/>
          </a:prstGeom>
          <a:noFill/>
          <a:ln/>
        </p:spPr>
        <p:txBody>
          <a:bodyPr wrap="square" lIns="0" tIns="0" rIns="0" bIns="0" rtlCol="0" anchor="ctr"/>
          <a:lstStyle/>
          <a:p>
            <a:pPr indent="0" marL="0">
              <a:buNone/>
            </a:pPr>
            <a:r>
              <a:rPr lang="en-US" sz="1200" dirty="0">
                <a:solidFill>
                  <a:srgbClr val="1A1730"/>
                </a:solidFill>
                <a:latin typeface="Calibri" pitchFamily="34" charset="0"/>
                <a:ea typeface="Calibri" pitchFamily="34" charset="-122"/>
                <a:cs typeface="Calibri" pitchFamily="34" charset="-120"/>
              </a:rPr>
              <a:t>Sub-cluster the leftover</a:t>
            </a:r>
            <a:endParaRPr lang="en-US" sz="1200" dirty="0"/>
          </a:p>
          <a:p>
            <a:pPr indent="0" marL="0">
              <a:buNone/>
            </a:pPr>
            <a:r>
              <a:rPr lang="en-US" sz="1200" dirty="0">
                <a:solidFill>
                  <a:srgbClr val="1A1730"/>
                </a:solidFill>
                <a:latin typeface="Calibri" pitchFamily="34" charset="0"/>
                <a:ea typeface="Calibri" pitchFamily="34" charset="-122"/>
                <a:cs typeface="Calibri" pitchFamily="34" charset="-120"/>
              </a:rPr>
              <a:t>into smaller, tighter groups</a:t>
            </a:r>
            <a:endParaRPr lang="en-US" sz="1200" dirty="0"/>
          </a:p>
        </p:txBody>
      </p:sp>
      <p:sp>
        <p:nvSpPr>
          <p:cNvPr id="27" name="Shape 18"/>
          <p:cNvSpPr/>
          <p:nvPr/>
        </p:nvSpPr>
        <p:spPr>
          <a:xfrm>
            <a:off x="731520" y="4434840"/>
            <a:ext cx="10725912" cy="1691640"/>
          </a:xfrm>
          <a:prstGeom prst="roundRect">
            <a:avLst>
              <a:gd name="adj" fmla="val 7568"/>
            </a:avLst>
          </a:prstGeom>
          <a:solidFill>
            <a:srgbClr val="16122B"/>
          </a:solidFill>
          <a:ln w="12700">
            <a:solidFill>
              <a:srgbClr val="16122B"/>
            </a:solidFill>
            <a:prstDash val="solid"/>
          </a:ln>
          <a:effectLst>
            <a:outerShdw sx="100000" sy="100000" kx="0" ky="0" algn="bl" rotWithShape="0" blurRad="152400" dist="38100" dir="5400000">
              <a:srgbClr val="000000">
                <a:alpha val="18000"/>
              </a:srgbClr>
            </a:outerShdw>
          </a:effectLst>
        </p:spPr>
      </p:sp>
      <p:pic>
        <p:nvPicPr>
          <p:cNvPr id="28" name="Image 7" descr="preencoded.png">    </p:cNvPr>
          <p:cNvPicPr>
            <a:picLocks noChangeAspect="1"/>
          </p:cNvPicPr>
          <p:nvPr/>
        </p:nvPicPr>
        <p:blipFill>
          <a:blip r:embed="rId8">
            <a:alphaModFix amt="45000"/>
          </a:blip>
          <a:stretch>
            <a:fillRect/>
          </a:stretch>
        </p:blipFill>
        <p:spPr>
          <a:xfrm>
            <a:off x="731520" y="5715000"/>
            <a:ext cx="10725912" cy="502920"/>
          </a:xfrm>
          <a:prstGeom prst="rect">
            <a:avLst/>
          </a:prstGeom>
        </p:spPr>
      </p:pic>
      <p:pic>
        <p:nvPicPr>
          <p:cNvPr id="29" name="Image 8" descr="preencoded.png">    </p:cNvPr>
          <p:cNvPicPr>
            <a:picLocks noChangeAspect="1"/>
          </p:cNvPicPr>
          <p:nvPr/>
        </p:nvPicPr>
        <p:blipFill>
          <a:blip r:embed="rId9"/>
          <a:stretch>
            <a:fillRect/>
          </a:stretch>
        </p:blipFill>
        <p:spPr>
          <a:xfrm>
            <a:off x="1051560" y="4709160"/>
            <a:ext cx="594360" cy="594360"/>
          </a:xfrm>
          <a:prstGeom prst="rect">
            <a:avLst/>
          </a:prstGeom>
        </p:spPr>
      </p:pic>
      <p:sp>
        <p:nvSpPr>
          <p:cNvPr id="30" name="Text 19"/>
          <p:cNvSpPr/>
          <p:nvPr/>
        </p:nvSpPr>
        <p:spPr>
          <a:xfrm>
            <a:off x="1783080" y="4663440"/>
            <a:ext cx="9418320" cy="365760"/>
          </a:xfrm>
          <a:prstGeom prst="rect">
            <a:avLst/>
          </a:prstGeom>
          <a:noFill/>
          <a:ln/>
        </p:spPr>
        <p:txBody>
          <a:bodyPr wrap="square" lIns="0" tIns="0" rIns="0" bIns="0" rtlCol="0" anchor="ctr"/>
          <a:lstStyle/>
          <a:p>
            <a:pPr indent="0" marL="0">
              <a:buNone/>
            </a:pPr>
            <a:r>
              <a:rPr lang="en-US" sz="1300" b="1" spc="200" kern="0" dirty="0">
                <a:solidFill>
                  <a:srgbClr val="FF6B6B"/>
                </a:solidFill>
                <a:latin typeface="Calibri" pitchFamily="34" charset="0"/>
                <a:ea typeface="Calibri" pitchFamily="34" charset="-122"/>
                <a:cs typeface="Calibri" pitchFamily="34" charset="-120"/>
              </a:rPr>
              <a:t>THE 9 FEATURES THE ALGORITHM LISTENS TO</a:t>
            </a:r>
            <a:endParaRPr lang="en-US" sz="1300" dirty="0"/>
          </a:p>
        </p:txBody>
      </p:sp>
      <p:sp>
        <p:nvSpPr>
          <p:cNvPr id="31" name="Text 20"/>
          <p:cNvSpPr/>
          <p:nvPr/>
        </p:nvSpPr>
        <p:spPr>
          <a:xfrm>
            <a:off x="1783080" y="5029200"/>
            <a:ext cx="9418320" cy="45720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Danceability · Energy · Loudness · Speechiness · Acousticness · Instrumentalness · Liveness · Valence (mood) · Tempo</a:t>
            </a:r>
            <a:endParaRPr lang="en-US" sz="1400" dirty="0"/>
          </a:p>
        </p:txBody>
      </p:sp>
      <p:sp>
        <p:nvSpPr>
          <p:cNvPr id="32" name="Text 21"/>
          <p:cNvSpPr/>
          <p:nvPr/>
        </p:nvSpPr>
        <p:spPr>
          <a:xfrm>
            <a:off x="1783080" y="5440680"/>
            <a:ext cx="9418320" cy="365760"/>
          </a:xfrm>
          <a:prstGeom prst="rect">
            <a:avLst/>
          </a:prstGeom>
          <a:noFill/>
          <a:ln/>
        </p:spPr>
        <p:txBody>
          <a:bodyPr wrap="square" lIns="0" tIns="0" rIns="0" bIns="0" rtlCol="0" anchor="ctr"/>
          <a:lstStyle/>
          <a:p>
            <a:pPr indent="0" marL="0">
              <a:buNone/>
            </a:pPr>
            <a:r>
              <a:rPr lang="en-US" sz="1200" i="1" dirty="0">
                <a:solidFill>
                  <a:srgbClr val="A29BFE"/>
                </a:solidFill>
                <a:latin typeface="Calibri" pitchFamily="34" charset="0"/>
                <a:ea typeface="Calibri" pitchFamily="34" charset="-122"/>
                <a:cs typeface="Calibri" pitchFamily="34" charset="-120"/>
              </a:rPr>
              <a:t>We dropped duration — two songs being the same length tells you nothing about whether they belong together.</a:t>
            </a:r>
            <a:endParaRPr lang="en-US" sz="1200" dirty="0"/>
          </a:p>
        </p:txBody>
      </p:sp>
      <p:sp>
        <p:nvSpPr>
          <p:cNvPr id="33" name="Text 22"/>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3</a:t>
            </a:r>
            <a:endParaRPr lang="en-US" sz="1100" dirty="0"/>
          </a:p>
        </p:txBody>
      </p:sp>
      <p:sp>
        <p:nvSpPr>
          <p:cNvPr id="34" name="Text 23"/>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THE LEFTOVER PROBLEM</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2800" b="1" dirty="0">
                <a:solidFill>
                  <a:srgbClr val="1A1730"/>
                </a:solidFill>
                <a:latin typeface="Cambria" pitchFamily="34" charset="0"/>
                <a:ea typeface="Cambria" pitchFamily="34" charset="-122"/>
                <a:cs typeface="Cambria" pitchFamily="34" charset="-120"/>
              </a:rPr>
              <a:t>One bucket of 115 mismatched songs — and how we solved it</a:t>
            </a:r>
            <a:endParaRPr lang="en-US" sz="2800" dirty="0"/>
          </a:p>
        </p:txBody>
      </p:sp>
      <p:sp>
        <p:nvSpPr>
          <p:cNvPr id="4" name="Shape 2"/>
          <p:cNvSpPr/>
          <p:nvPr/>
        </p:nvSpPr>
        <p:spPr>
          <a:xfrm>
            <a:off x="731520" y="1691640"/>
            <a:ext cx="3392424" cy="4434840"/>
          </a:xfrm>
          <a:prstGeom prst="roundRect">
            <a:avLst>
              <a:gd name="adj" fmla="val 377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5" name="Text 3"/>
          <p:cNvSpPr/>
          <p:nvPr/>
        </p:nvSpPr>
        <p:spPr>
          <a:xfrm>
            <a:off x="1005840" y="1874520"/>
            <a:ext cx="2834640" cy="457200"/>
          </a:xfrm>
          <a:prstGeom prst="rect">
            <a:avLst/>
          </a:prstGeom>
          <a:noFill/>
          <a:ln/>
        </p:spPr>
        <p:txBody>
          <a:bodyPr wrap="square" lIns="0" tIns="0" rIns="0" bIns="0" rtlCol="0" anchor="ctr"/>
          <a:lstStyle/>
          <a:p>
            <a:pPr indent="0" marL="0">
              <a:buNone/>
            </a:pPr>
            <a:r>
              <a:rPr lang="en-US" sz="2000" b="1" dirty="0">
                <a:solidFill>
                  <a:srgbClr val="1A1730"/>
                </a:solidFill>
                <a:latin typeface="Cambria" pitchFamily="34" charset="0"/>
                <a:ea typeface="Cambria" pitchFamily="34" charset="-122"/>
                <a:cs typeface="Cambria" pitchFamily="34" charset="-120"/>
              </a:rPr>
              <a:t>Option 1: Keep it</a:t>
            </a:r>
            <a:endParaRPr lang="en-US" sz="2000" dirty="0"/>
          </a:p>
        </p:txBody>
      </p:sp>
      <p:sp>
        <p:nvSpPr>
          <p:cNvPr id="6" name="Text 4"/>
          <p:cNvSpPr/>
          <p:nvPr/>
        </p:nvSpPr>
        <p:spPr>
          <a:xfrm>
            <a:off x="1005840" y="2377440"/>
            <a:ext cx="2834640" cy="365760"/>
          </a:xfrm>
          <a:prstGeom prst="rect">
            <a:avLst/>
          </a:prstGeom>
          <a:noFill/>
          <a:ln/>
        </p:spPr>
        <p:txBody>
          <a:bodyPr wrap="square" lIns="0" tIns="0" rIns="0" bIns="0" rtlCol="0" anchor="ctr"/>
          <a:lstStyle/>
          <a:p>
            <a:pPr indent="0" marL="0">
              <a:buNone/>
            </a:pPr>
            <a:r>
              <a:rPr lang="en-US" sz="1200" b="1" spc="300" kern="0" dirty="0">
                <a:solidFill>
                  <a:srgbClr val="FF5A6E"/>
                </a:solidFill>
                <a:latin typeface="Calibri" pitchFamily="34" charset="0"/>
                <a:ea typeface="Calibri" pitchFamily="34" charset="-122"/>
                <a:cs typeface="Calibri" pitchFamily="34" charset="-120"/>
              </a:rPr>
              <a:t>1 BAD PLAYLIST</a:t>
            </a:r>
            <a:endParaRPr lang="en-US" sz="1200" dirty="0"/>
          </a:p>
        </p:txBody>
      </p:sp>
      <p:sp>
        <p:nvSpPr>
          <p:cNvPr id="7" name="Text 5"/>
          <p:cNvSpPr/>
          <p:nvPr/>
        </p:nvSpPr>
        <p:spPr>
          <a:xfrm>
            <a:off x="1005840" y="2926080"/>
            <a:ext cx="2834640" cy="2286000"/>
          </a:xfrm>
          <a:prstGeom prst="rect">
            <a:avLst/>
          </a:prstGeom>
          <a:noFill/>
          <a:ln/>
        </p:spPr>
        <p:txBody>
          <a:bodyPr wrap="square" lIns="0" tIns="0" rIns="0" bIns="0" rtlCol="0" anchor="t"/>
          <a:lstStyle/>
          <a:p>
            <a:pPr indent="0" marL="0">
              <a:buNone/>
            </a:pPr>
            <a:r>
              <a:rPr lang="en-US" sz="1500" dirty="0">
                <a:solidFill>
                  <a:srgbClr val="1A1730"/>
                </a:solidFill>
                <a:latin typeface="Calibri" pitchFamily="34" charset="0"/>
                <a:ea typeface="Calibri" pitchFamily="34" charset="-122"/>
                <a:cs typeface="Calibri" pitchFamily="34" charset="-120"/>
              </a:rPr>
              <a:t>Leave the 115 songs as one cluster. Result: 1 incoherent playlist users will dislike.</a:t>
            </a:r>
            <a:endParaRPr lang="en-US" sz="1500" dirty="0"/>
          </a:p>
        </p:txBody>
      </p:sp>
      <p:sp>
        <p:nvSpPr>
          <p:cNvPr id="8" name="Text 6"/>
          <p:cNvSpPr/>
          <p:nvPr/>
        </p:nvSpPr>
        <p:spPr>
          <a:xfrm>
            <a:off x="1005840" y="5440680"/>
            <a:ext cx="2834640" cy="457200"/>
          </a:xfrm>
          <a:prstGeom prst="rect">
            <a:avLst/>
          </a:prstGeom>
          <a:noFill/>
          <a:ln/>
        </p:spPr>
        <p:txBody>
          <a:bodyPr wrap="square" lIns="0" tIns="0" rIns="0" bIns="0" rtlCol="0" anchor="ctr"/>
          <a:lstStyle/>
          <a:p>
            <a:pPr indent="0" marL="0">
              <a:buNone/>
            </a:pPr>
            <a:r>
              <a:rPr lang="en-US" sz="1500" b="1" dirty="0">
                <a:solidFill>
                  <a:srgbClr val="6C5CE7"/>
                </a:solidFill>
                <a:latin typeface="Cambria" pitchFamily="34" charset="0"/>
                <a:ea typeface="Cambria" pitchFamily="34" charset="-122"/>
                <a:cs typeface="Cambria" pitchFamily="34" charset="-120"/>
              </a:rPr>
              <a:t>5,230 songs kept</a:t>
            </a:r>
            <a:endParaRPr lang="en-US" sz="1500" dirty="0"/>
          </a:p>
        </p:txBody>
      </p:sp>
      <p:sp>
        <p:nvSpPr>
          <p:cNvPr id="9" name="Shape 7"/>
          <p:cNvSpPr/>
          <p:nvPr/>
        </p:nvSpPr>
        <p:spPr>
          <a:xfrm>
            <a:off x="4407408" y="1691640"/>
            <a:ext cx="3392424" cy="4434840"/>
          </a:xfrm>
          <a:prstGeom prst="roundRect">
            <a:avLst>
              <a:gd name="adj" fmla="val 377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0" name="Text 8"/>
          <p:cNvSpPr/>
          <p:nvPr/>
        </p:nvSpPr>
        <p:spPr>
          <a:xfrm>
            <a:off x="4681728" y="1874520"/>
            <a:ext cx="2834640" cy="457200"/>
          </a:xfrm>
          <a:prstGeom prst="rect">
            <a:avLst/>
          </a:prstGeom>
          <a:noFill/>
          <a:ln/>
        </p:spPr>
        <p:txBody>
          <a:bodyPr wrap="square" lIns="0" tIns="0" rIns="0" bIns="0" rtlCol="0" anchor="ctr"/>
          <a:lstStyle/>
          <a:p>
            <a:pPr indent="0" marL="0">
              <a:buNone/>
            </a:pPr>
            <a:r>
              <a:rPr lang="en-US" sz="2000" b="1" dirty="0">
                <a:solidFill>
                  <a:srgbClr val="1A1730"/>
                </a:solidFill>
                <a:latin typeface="Cambria" pitchFamily="34" charset="0"/>
                <a:ea typeface="Cambria" pitchFamily="34" charset="-122"/>
                <a:cs typeface="Cambria" pitchFamily="34" charset="-120"/>
              </a:rPr>
              <a:t>Option 2: Drop them</a:t>
            </a:r>
            <a:endParaRPr lang="en-US" sz="2000" dirty="0"/>
          </a:p>
        </p:txBody>
      </p:sp>
      <p:sp>
        <p:nvSpPr>
          <p:cNvPr id="11" name="Text 9"/>
          <p:cNvSpPr/>
          <p:nvPr/>
        </p:nvSpPr>
        <p:spPr>
          <a:xfrm>
            <a:off x="4681728" y="2377440"/>
            <a:ext cx="2834640" cy="365760"/>
          </a:xfrm>
          <a:prstGeom prst="rect">
            <a:avLst/>
          </a:prstGeom>
          <a:noFill/>
          <a:ln/>
        </p:spPr>
        <p:txBody>
          <a:bodyPr wrap="square" lIns="0" tIns="0" rIns="0" bIns="0" rtlCol="0" anchor="ctr"/>
          <a:lstStyle/>
          <a:p>
            <a:pPr indent="0" marL="0">
              <a:buNone/>
            </a:pPr>
            <a:r>
              <a:rPr lang="en-US" sz="1200" b="1" spc="300" kern="0" dirty="0">
                <a:solidFill>
                  <a:srgbClr val="FFB454"/>
                </a:solidFill>
                <a:latin typeface="Calibri" pitchFamily="34" charset="0"/>
                <a:ea typeface="Calibri" pitchFamily="34" charset="-122"/>
                <a:cs typeface="Calibri" pitchFamily="34" charset="-120"/>
              </a:rPr>
              <a:t>LOSE 115 SONGS</a:t>
            </a:r>
            <a:endParaRPr lang="en-US" sz="1200" dirty="0"/>
          </a:p>
        </p:txBody>
      </p:sp>
      <p:sp>
        <p:nvSpPr>
          <p:cNvPr id="12" name="Text 10"/>
          <p:cNvSpPr/>
          <p:nvPr/>
        </p:nvSpPr>
        <p:spPr>
          <a:xfrm>
            <a:off x="4681728" y="2926080"/>
            <a:ext cx="2834640" cy="2286000"/>
          </a:xfrm>
          <a:prstGeom prst="rect">
            <a:avLst/>
          </a:prstGeom>
          <a:noFill/>
          <a:ln/>
        </p:spPr>
        <p:txBody>
          <a:bodyPr wrap="square" lIns="0" tIns="0" rIns="0" bIns="0" rtlCol="0" anchor="t"/>
          <a:lstStyle/>
          <a:p>
            <a:pPr indent="0" marL="0">
              <a:buNone/>
            </a:pPr>
            <a:r>
              <a:rPr lang="en-US" sz="1500" dirty="0">
                <a:solidFill>
                  <a:srgbClr val="1A1730"/>
                </a:solidFill>
                <a:latin typeface="Calibri" pitchFamily="34" charset="0"/>
                <a:ea typeface="Calibri" pitchFamily="34" charset="-122"/>
                <a:cs typeface="Calibri" pitchFamily="34" charset="-120"/>
              </a:rPr>
              <a:t>Remove the 115 outliers from the delivery entirely. Cleaner playlists, but missing 2.2% of catalogue.</a:t>
            </a:r>
            <a:endParaRPr lang="en-US" sz="1500" dirty="0"/>
          </a:p>
        </p:txBody>
      </p:sp>
      <p:sp>
        <p:nvSpPr>
          <p:cNvPr id="13" name="Text 11"/>
          <p:cNvSpPr/>
          <p:nvPr/>
        </p:nvSpPr>
        <p:spPr>
          <a:xfrm>
            <a:off x="4681728" y="5440680"/>
            <a:ext cx="2834640" cy="457200"/>
          </a:xfrm>
          <a:prstGeom prst="rect">
            <a:avLst/>
          </a:prstGeom>
          <a:noFill/>
          <a:ln/>
        </p:spPr>
        <p:txBody>
          <a:bodyPr wrap="square" lIns="0" tIns="0" rIns="0" bIns="0" rtlCol="0" anchor="ctr"/>
          <a:lstStyle/>
          <a:p>
            <a:pPr indent="0" marL="0">
              <a:buNone/>
            </a:pPr>
            <a:r>
              <a:rPr lang="en-US" sz="1500" b="1" dirty="0">
                <a:solidFill>
                  <a:srgbClr val="6C5CE7"/>
                </a:solidFill>
                <a:latin typeface="Cambria" pitchFamily="34" charset="0"/>
                <a:ea typeface="Cambria" pitchFamily="34" charset="-122"/>
                <a:cs typeface="Cambria" pitchFamily="34" charset="-120"/>
              </a:rPr>
              <a:t>5,115 songs kept</a:t>
            </a:r>
            <a:endParaRPr lang="en-US" sz="1500" dirty="0"/>
          </a:p>
        </p:txBody>
      </p:sp>
      <p:sp>
        <p:nvSpPr>
          <p:cNvPr id="14" name="Shape 12"/>
          <p:cNvSpPr/>
          <p:nvPr/>
        </p:nvSpPr>
        <p:spPr>
          <a:xfrm>
            <a:off x="8083296" y="1691640"/>
            <a:ext cx="3392424" cy="4434840"/>
          </a:xfrm>
          <a:prstGeom prst="roundRect">
            <a:avLst>
              <a:gd name="adj" fmla="val 3774"/>
            </a:avLst>
          </a:prstGeom>
          <a:solidFill>
            <a:srgbClr val="F1ECFA"/>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5" name="Text 13"/>
          <p:cNvSpPr/>
          <p:nvPr/>
        </p:nvSpPr>
        <p:spPr>
          <a:xfrm>
            <a:off x="8357616" y="1874520"/>
            <a:ext cx="2834640" cy="457200"/>
          </a:xfrm>
          <a:prstGeom prst="rect">
            <a:avLst/>
          </a:prstGeom>
          <a:noFill/>
          <a:ln/>
        </p:spPr>
        <p:txBody>
          <a:bodyPr wrap="square" lIns="0" tIns="0" rIns="0" bIns="0" rtlCol="0" anchor="ctr"/>
          <a:lstStyle/>
          <a:p>
            <a:pPr indent="0" marL="0">
              <a:buNone/>
            </a:pPr>
            <a:r>
              <a:rPr lang="en-US" sz="2000" b="1" dirty="0">
                <a:solidFill>
                  <a:srgbClr val="1A1730"/>
                </a:solidFill>
                <a:latin typeface="Cambria" pitchFamily="34" charset="0"/>
                <a:ea typeface="Cambria" pitchFamily="34" charset="-122"/>
                <a:cs typeface="Cambria" pitchFamily="34" charset="-120"/>
              </a:rPr>
              <a:t>Option 3: Sub-cluster</a:t>
            </a:r>
            <a:endParaRPr lang="en-US" sz="2000" dirty="0"/>
          </a:p>
        </p:txBody>
      </p:sp>
      <p:sp>
        <p:nvSpPr>
          <p:cNvPr id="16" name="Text 14"/>
          <p:cNvSpPr/>
          <p:nvPr/>
        </p:nvSpPr>
        <p:spPr>
          <a:xfrm>
            <a:off x="8357616" y="2377440"/>
            <a:ext cx="2834640" cy="365760"/>
          </a:xfrm>
          <a:prstGeom prst="rect">
            <a:avLst/>
          </a:prstGeom>
          <a:noFill/>
          <a:ln/>
        </p:spPr>
        <p:txBody>
          <a:bodyPr wrap="square" lIns="0" tIns="0" rIns="0" bIns="0" rtlCol="0" anchor="ctr"/>
          <a:lstStyle/>
          <a:p>
            <a:pPr indent="0" marL="0">
              <a:buNone/>
            </a:pPr>
            <a:r>
              <a:rPr lang="en-US" sz="1200" b="1" spc="300" kern="0" dirty="0">
                <a:solidFill>
                  <a:srgbClr val="10B981"/>
                </a:solidFill>
                <a:latin typeface="Calibri" pitchFamily="34" charset="0"/>
                <a:ea typeface="Calibri" pitchFamily="34" charset="-122"/>
                <a:cs typeface="Calibri" pitchFamily="34" charset="-120"/>
              </a:rPr>
              <a:t>RECOMMENDED</a:t>
            </a:r>
            <a:endParaRPr lang="en-US" sz="1200" dirty="0"/>
          </a:p>
        </p:txBody>
      </p:sp>
      <p:sp>
        <p:nvSpPr>
          <p:cNvPr id="17" name="Text 15"/>
          <p:cNvSpPr/>
          <p:nvPr/>
        </p:nvSpPr>
        <p:spPr>
          <a:xfrm>
            <a:off x="8357616" y="2926080"/>
            <a:ext cx="2834640" cy="2286000"/>
          </a:xfrm>
          <a:prstGeom prst="rect">
            <a:avLst/>
          </a:prstGeom>
          <a:noFill/>
          <a:ln/>
        </p:spPr>
        <p:txBody>
          <a:bodyPr wrap="square" lIns="0" tIns="0" rIns="0" bIns="0" rtlCol="0" anchor="t"/>
          <a:lstStyle/>
          <a:p>
            <a:pPr indent="0" marL="0">
              <a:buNone/>
            </a:pPr>
            <a:r>
              <a:rPr lang="en-US" sz="1500" dirty="0">
                <a:solidFill>
                  <a:srgbClr val="1A1730"/>
                </a:solidFill>
                <a:latin typeface="Calibri" pitchFamily="34" charset="0"/>
                <a:ea typeface="Calibri" pitchFamily="34" charset="-122"/>
                <a:cs typeface="Calibri" pitchFamily="34" charset="-120"/>
              </a:rPr>
              <a:t>Run K-Means again on just those 115 songs to split them into smaller, more coherent sub-groups.</a:t>
            </a:r>
            <a:endParaRPr lang="en-US" sz="1500" dirty="0"/>
          </a:p>
        </p:txBody>
      </p:sp>
      <p:sp>
        <p:nvSpPr>
          <p:cNvPr id="18" name="Text 16"/>
          <p:cNvSpPr/>
          <p:nvPr/>
        </p:nvSpPr>
        <p:spPr>
          <a:xfrm>
            <a:off x="8357616" y="5440680"/>
            <a:ext cx="2834640" cy="457200"/>
          </a:xfrm>
          <a:prstGeom prst="rect">
            <a:avLst/>
          </a:prstGeom>
          <a:noFill/>
          <a:ln/>
        </p:spPr>
        <p:txBody>
          <a:bodyPr wrap="square" lIns="0" tIns="0" rIns="0" bIns="0" rtlCol="0" anchor="ctr"/>
          <a:lstStyle/>
          <a:p>
            <a:pPr indent="0" marL="0">
              <a:buNone/>
            </a:pPr>
            <a:r>
              <a:rPr lang="en-US" sz="1500" b="1" dirty="0">
                <a:solidFill>
                  <a:srgbClr val="6C5CE7"/>
                </a:solidFill>
                <a:latin typeface="Cambria" pitchFamily="34" charset="0"/>
                <a:ea typeface="Cambria" pitchFamily="34" charset="-122"/>
                <a:cs typeface="Cambria" pitchFamily="34" charset="-120"/>
              </a:rPr>
              <a:t>5,230 songs kept</a:t>
            </a:r>
            <a:endParaRPr lang="en-US" sz="1500" dirty="0"/>
          </a:p>
        </p:txBody>
      </p:sp>
      <p:sp>
        <p:nvSpPr>
          <p:cNvPr id="19" name="Shape 17"/>
          <p:cNvSpPr/>
          <p:nvPr/>
        </p:nvSpPr>
        <p:spPr>
          <a:xfrm>
            <a:off x="11009376" y="1828800"/>
            <a:ext cx="411480" cy="411480"/>
          </a:xfrm>
          <a:prstGeom prst="ellipse">
            <a:avLst/>
          </a:prstGeom>
          <a:solidFill>
            <a:srgbClr val="10B981"/>
          </a:solidFill>
          <a:ln w="12700">
            <a:solidFill>
              <a:srgbClr val="10B981"/>
            </a:solidFill>
            <a:prstDash val="solid"/>
          </a:ln>
        </p:spPr>
      </p:sp>
      <p:pic>
        <p:nvPicPr>
          <p:cNvPr id="20" name="Image 0" descr="preencoded.png">    </p:cNvPr>
          <p:cNvPicPr>
            <a:picLocks noChangeAspect="1"/>
          </p:cNvPicPr>
          <p:nvPr/>
        </p:nvPicPr>
        <p:blipFill>
          <a:blip r:embed="rId1"/>
          <a:stretch>
            <a:fillRect/>
          </a:stretch>
        </p:blipFill>
        <p:spPr>
          <a:xfrm>
            <a:off x="11109960" y="1929384"/>
            <a:ext cx="210312" cy="210312"/>
          </a:xfrm>
          <a:prstGeom prst="rect">
            <a:avLst/>
          </a:prstGeom>
        </p:spPr>
      </p:pic>
      <p:sp>
        <p:nvSpPr>
          <p:cNvPr id="21" name="Text 18"/>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4</a:t>
            </a:r>
            <a:endParaRPr lang="en-US" sz="1100" dirty="0"/>
          </a:p>
        </p:txBody>
      </p:sp>
      <p:sp>
        <p:nvSpPr>
          <p:cNvPr id="22" name="Text 19"/>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Q2  ·  HOW THE 41 PLAYLISTS STACK UP</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3000" b="1" dirty="0">
                <a:solidFill>
                  <a:srgbClr val="1A1730"/>
                </a:solidFill>
                <a:latin typeface="Cambria" pitchFamily="34" charset="0"/>
                <a:ea typeface="Cambria" pitchFamily="34" charset="-122"/>
                <a:cs typeface="Cambria" pitchFamily="34" charset="-120"/>
              </a:rPr>
              <a:t>Most playlists are usable. None are broken.</a:t>
            </a:r>
            <a:endParaRPr lang="en-US" sz="3000" dirty="0"/>
          </a:p>
        </p:txBody>
      </p:sp>
      <p:graphicFrame>
        <p:nvGraphicFramePr>
          <p:cNvPr id="4" name="Chart 0" descr=""/>
          <p:cNvGraphicFramePr/>
          <p:nvPr/>
        </p:nvGraphicFramePr>
        <p:xfrm>
          <a:off x="640080" y="1691640"/>
          <a:ext cx="6949440" cy="44805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863840" y="1691640"/>
            <a:ext cx="3593592" cy="4480560"/>
          </a:xfrm>
          <a:prstGeom prst="roundRect">
            <a:avLst>
              <a:gd name="adj" fmla="val 3562"/>
            </a:avLst>
          </a:prstGeom>
          <a:solidFill>
            <a:srgbClr val="16122B"/>
          </a:solidFill>
          <a:ln w="12700">
            <a:solidFill>
              <a:srgbClr val="16122B"/>
            </a:solidFill>
            <a:prstDash val="solid"/>
          </a:ln>
          <a:effectLst>
            <a:outerShdw sx="100000" sy="100000" kx="0" ky="0" algn="bl" rotWithShape="0" blurRad="152400" dist="38100" dir="5400000">
              <a:srgbClr val="000000">
                <a:alpha val="18000"/>
              </a:srgbClr>
            </a:outerShdw>
          </a:effectLst>
        </p:spPr>
      </p:sp>
      <p:sp>
        <p:nvSpPr>
          <p:cNvPr id="6" name="Text 3"/>
          <p:cNvSpPr/>
          <p:nvPr/>
        </p:nvSpPr>
        <p:spPr>
          <a:xfrm>
            <a:off x="8138160" y="1965960"/>
            <a:ext cx="3108960" cy="365760"/>
          </a:xfrm>
          <a:prstGeom prst="rect">
            <a:avLst/>
          </a:prstGeom>
          <a:noFill/>
          <a:ln/>
        </p:spPr>
        <p:txBody>
          <a:bodyPr wrap="square" lIns="0" tIns="0" rIns="0" bIns="0" rtlCol="0" anchor="ctr"/>
          <a:lstStyle/>
          <a:p>
            <a:pPr indent="0" marL="0">
              <a:buNone/>
            </a:pPr>
            <a:r>
              <a:rPr lang="en-US" sz="1200" b="1" spc="200" kern="0" dirty="0">
                <a:solidFill>
                  <a:srgbClr val="FF6B6B"/>
                </a:solidFill>
                <a:latin typeface="Calibri" pitchFamily="34" charset="0"/>
                <a:ea typeface="Calibri" pitchFamily="34" charset="-122"/>
                <a:cs typeface="Calibri" pitchFamily="34" charset="-120"/>
              </a:rPr>
              <a:t>WHAT IT MEANS FOR USERS</a:t>
            </a:r>
            <a:endParaRPr lang="en-US" sz="1200" dirty="0"/>
          </a:p>
        </p:txBody>
      </p:sp>
      <p:sp>
        <p:nvSpPr>
          <p:cNvPr id="7" name="Text 4"/>
          <p:cNvSpPr/>
          <p:nvPr/>
        </p:nvSpPr>
        <p:spPr>
          <a:xfrm>
            <a:off x="8138160" y="2331720"/>
            <a:ext cx="3108960" cy="3657600"/>
          </a:xfrm>
          <a:prstGeom prst="rect">
            <a:avLst/>
          </a:prstGeom>
          <a:noFill/>
          <a:ln/>
        </p:spPr>
        <p:txBody>
          <a:bodyPr wrap="square" lIns="0" tIns="0" rIns="0" bIns="0" rtlCol="0" anchor="ctr"/>
          <a:lstStyle/>
          <a:p>
            <a:pPr indent="0" marL="0">
              <a:lnSpc>
                <a:spcPct val="105000"/>
              </a:lnSpc>
              <a:buNone/>
            </a:pPr>
            <a:r>
              <a:rPr lang="en-US" sz="3000" b="1" dirty="0">
                <a:solidFill>
                  <a:srgbClr val="2EE6A6"/>
                </a:solidFill>
                <a:latin typeface="Calibri" pitchFamily="34" charset="0"/>
                <a:ea typeface="Calibri" pitchFamily="34" charset="-122"/>
                <a:cs typeface="Calibri" pitchFamily="34" charset="-120"/>
              </a:rPr>
              <a:t>19</a:t>
            </a:r>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  ready to ship now
</a:t>
            </a:r>
            <a:pPr indent="0" marL="0">
              <a:lnSpc>
                <a:spcPct val="105000"/>
              </a:lnSpc>
              <a:buNone/>
            </a:pPr>
            <a:r>
              <a:rPr lang="en-US" sz="1200" dirty="0">
                <a:solidFill>
                  <a:srgbClr val="9B95C0"/>
                </a:solidFill>
                <a:latin typeface="Calibri" pitchFamily="34" charset="0"/>
                <a:ea typeface="Calibri" pitchFamily="34" charset="-122"/>
                <a:cs typeface="Calibri" pitchFamily="34" charset="-120"/>
              </a:rPr>
              <a:t>feel curated, minimal review
</a:t>
            </a:r>
            <a:pPr indent="0" marL="0">
              <a:lnSpc>
                <a:spcPct val="105000"/>
              </a:lnSpc>
              <a:buNone/>
            </a:pPr>
            <a:r>
              <a:rPr lang="en-US" sz="3000" b="1" dirty="0">
                <a:solidFill>
                  <a:srgbClr val="FFB454"/>
                </a:solidFill>
                <a:latin typeface="Calibri" pitchFamily="34" charset="0"/>
                <a:ea typeface="Calibri" pitchFamily="34" charset="-122"/>
                <a:cs typeface="Calibri" pitchFamily="34" charset="-120"/>
              </a:rPr>
              <a:t>19</a:t>
            </a:r>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  light touch-up
</a:t>
            </a:r>
            <a:pPr indent="0" marL="0">
              <a:lnSpc>
                <a:spcPct val="105000"/>
              </a:lnSpc>
              <a:buNone/>
            </a:pPr>
            <a:r>
              <a:rPr lang="en-US" sz="1200" dirty="0">
                <a:solidFill>
                  <a:srgbClr val="9B95C0"/>
                </a:solidFill>
                <a:latin typeface="Calibri" pitchFamily="34" charset="0"/>
                <a:ea typeface="Calibri" pitchFamily="34" charset="-122"/>
                <a:cs typeface="Calibri" pitchFamily="34" charset="-120"/>
              </a:rPr>
              <a:t>listenable mood collections
</a:t>
            </a:r>
            <a:pPr indent="0" marL="0">
              <a:lnSpc>
                <a:spcPct val="105000"/>
              </a:lnSpc>
              <a:buNone/>
            </a:pPr>
            <a:r>
              <a:rPr lang="en-US" sz="3000" b="1" dirty="0">
                <a:solidFill>
                  <a:srgbClr val="FFB454"/>
                </a:solidFill>
                <a:latin typeface="Calibri" pitchFamily="34" charset="0"/>
                <a:ea typeface="Calibri" pitchFamily="34" charset="-122"/>
                <a:cs typeface="Calibri" pitchFamily="34" charset="-120"/>
              </a:rPr>
              <a:t>3</a:t>
            </a:r>
            <a:pPr indent="0" marL="0">
              <a:lnSpc>
                <a:spcPct val="105000"/>
              </a:lnSpc>
              <a:buNone/>
            </a:pPr>
            <a:r>
              <a:rPr lang="en-US" sz="1400" dirty="0">
                <a:solidFill>
                  <a:srgbClr val="FFFFFF"/>
                </a:solidFill>
                <a:latin typeface="Calibri" pitchFamily="34" charset="0"/>
                <a:ea typeface="Calibri" pitchFamily="34" charset="-122"/>
                <a:cs typeface="Calibri" pitchFamily="34" charset="-120"/>
              </a:rPr>
              <a:t>  need refinement
</a:t>
            </a:r>
            <a:pPr indent="0" marL="0">
              <a:lnSpc>
                <a:spcPct val="105000"/>
              </a:lnSpc>
              <a:buNone/>
            </a:pPr>
            <a:r>
              <a:rPr lang="en-US" sz="1200" dirty="0">
                <a:solidFill>
                  <a:srgbClr val="9B95C0"/>
                </a:solidFill>
                <a:latin typeface="Calibri" pitchFamily="34" charset="0"/>
                <a:ea typeface="Calibri" pitchFamily="34" charset="-122"/>
                <a:cs typeface="Calibri" pitchFamily="34" charset="-120"/>
              </a:rPr>
              <a:t>weak but workable</a:t>
            </a:r>
            <a:endParaRPr lang="en-US" sz="3000" dirty="0"/>
          </a:p>
        </p:txBody>
      </p:sp>
      <p:sp>
        <p:nvSpPr>
          <p:cNvPr id="8" name="Text 5"/>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5</a:t>
            </a:r>
            <a:endParaRPr lang="en-US" sz="1100" dirty="0"/>
          </a:p>
        </p:txBody>
      </p:sp>
      <p:sp>
        <p:nvSpPr>
          <p:cNvPr id="9" name="Text 6"/>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Q3  ·  ARE AUDIO FEATURES ENOUGH?</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3000" b="1" dirty="0">
                <a:solidFill>
                  <a:srgbClr val="1A1730"/>
                </a:solidFill>
                <a:latin typeface="Cambria" pitchFamily="34" charset="0"/>
                <a:ea typeface="Cambria" pitchFamily="34" charset="-122"/>
                <a:cs typeface="Cambria" pitchFamily="34" charset="-120"/>
              </a:rPr>
              <a:t>They hear the sound — but not the meaning</a:t>
            </a:r>
            <a:endParaRPr lang="en-US" sz="3000" dirty="0"/>
          </a:p>
        </p:txBody>
      </p:sp>
      <p:sp>
        <p:nvSpPr>
          <p:cNvPr id="4" name="Shape 2"/>
          <p:cNvSpPr/>
          <p:nvPr/>
        </p:nvSpPr>
        <p:spPr>
          <a:xfrm>
            <a:off x="731520" y="1645920"/>
            <a:ext cx="5257800" cy="4572000"/>
          </a:xfrm>
          <a:prstGeom prst="roundRect">
            <a:avLst>
              <a:gd name="adj" fmla="val 2800"/>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5" name="Shape 3"/>
          <p:cNvSpPr/>
          <p:nvPr/>
        </p:nvSpPr>
        <p:spPr>
          <a:xfrm>
            <a:off x="960120" y="1874520"/>
            <a:ext cx="640080" cy="640080"/>
          </a:xfrm>
          <a:prstGeom prst="ellipse">
            <a:avLst/>
          </a:prstGeom>
          <a:solidFill>
            <a:srgbClr val="10B981"/>
          </a:solidFill>
          <a:ln w="12700">
            <a:solidFill>
              <a:srgbClr val="10B981"/>
            </a:solidFill>
            <a:prstDash val="solid"/>
          </a:ln>
        </p:spPr>
      </p:sp>
      <p:pic>
        <p:nvPicPr>
          <p:cNvPr id="6" name="Image 0" descr="preencoded.png">    </p:cNvPr>
          <p:cNvPicPr>
            <a:picLocks noChangeAspect="1"/>
          </p:cNvPicPr>
          <p:nvPr/>
        </p:nvPicPr>
        <p:blipFill>
          <a:blip r:embed="rId1"/>
          <a:stretch>
            <a:fillRect/>
          </a:stretch>
        </p:blipFill>
        <p:spPr>
          <a:xfrm>
            <a:off x="1115568" y="2029968"/>
            <a:ext cx="329184" cy="329184"/>
          </a:xfrm>
          <a:prstGeom prst="rect">
            <a:avLst/>
          </a:prstGeom>
        </p:spPr>
      </p:pic>
      <p:sp>
        <p:nvSpPr>
          <p:cNvPr id="7" name="Text 4"/>
          <p:cNvSpPr/>
          <p:nvPr/>
        </p:nvSpPr>
        <p:spPr>
          <a:xfrm>
            <a:off x="1737360" y="1920240"/>
            <a:ext cx="4023360" cy="365760"/>
          </a:xfrm>
          <a:prstGeom prst="rect">
            <a:avLst/>
          </a:prstGeom>
          <a:noFill/>
          <a:ln/>
        </p:spPr>
        <p:txBody>
          <a:bodyPr wrap="square" lIns="0" tIns="0" rIns="0" bIns="0" rtlCol="0" anchor="ctr"/>
          <a:lstStyle/>
          <a:p>
            <a:pPr indent="0" marL="0">
              <a:buNone/>
            </a:pPr>
            <a:r>
              <a:rPr lang="en-US" sz="1200" b="1" spc="300" kern="0" dirty="0">
                <a:solidFill>
                  <a:srgbClr val="10B981"/>
                </a:solidFill>
                <a:latin typeface="Calibri" pitchFamily="34" charset="0"/>
                <a:ea typeface="Calibri" pitchFamily="34" charset="-122"/>
                <a:cs typeface="Calibri" pitchFamily="34" charset="-120"/>
              </a:rPr>
              <a:t>WHAT THEY CATCH</a:t>
            </a:r>
            <a:endParaRPr lang="en-US" sz="1200" dirty="0"/>
          </a:p>
        </p:txBody>
      </p:sp>
      <p:sp>
        <p:nvSpPr>
          <p:cNvPr id="8" name="Text 5"/>
          <p:cNvSpPr/>
          <p:nvPr/>
        </p:nvSpPr>
        <p:spPr>
          <a:xfrm>
            <a:off x="960120" y="2651760"/>
            <a:ext cx="4754880" cy="457200"/>
          </a:xfrm>
          <a:prstGeom prst="rect">
            <a:avLst/>
          </a:prstGeom>
          <a:noFill/>
          <a:ln/>
        </p:spPr>
        <p:txBody>
          <a:bodyPr wrap="square" lIns="0" tIns="0" rIns="0" bIns="0" rtlCol="0" anchor="ctr"/>
          <a:lstStyle/>
          <a:p>
            <a:pPr indent="0" marL="0">
              <a:buNone/>
            </a:pPr>
            <a:r>
              <a:rPr lang="en-US" sz="2400" b="1" dirty="0">
                <a:solidFill>
                  <a:srgbClr val="1A1730"/>
                </a:solidFill>
                <a:latin typeface="Cambria" pitchFamily="34" charset="0"/>
                <a:ea typeface="Cambria" pitchFamily="34" charset="-122"/>
                <a:cs typeface="Cambria" pitchFamily="34" charset="-120"/>
              </a:rPr>
              <a:t>Sonic qualities</a:t>
            </a:r>
            <a:endParaRPr lang="en-US" sz="2400" dirty="0"/>
          </a:p>
        </p:txBody>
      </p:sp>
      <p:sp>
        <p:nvSpPr>
          <p:cNvPr id="9" name="Text 6"/>
          <p:cNvSpPr/>
          <p:nvPr/>
        </p:nvSpPr>
        <p:spPr>
          <a:xfrm>
            <a:off x="1051560" y="3246120"/>
            <a:ext cx="4663440" cy="2834640"/>
          </a:xfrm>
          <a:prstGeom prst="rect">
            <a:avLst/>
          </a:prstGeom>
          <a:noFill/>
          <a:ln/>
        </p:spPr>
        <p:txBody>
          <a:bodyPr wrap="square" rtlCol="0" anchor="ctr"/>
          <a:lstStyle/>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Energy and intensity</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Tempo and rhythm</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Acoustic vs electronic</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Vocal vs instrumental</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Mood — happy vs sad</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Live vs studio recording</a:t>
            </a:r>
            <a:endParaRPr lang="en-US" sz="1550" dirty="0"/>
          </a:p>
        </p:txBody>
      </p:sp>
      <p:sp>
        <p:nvSpPr>
          <p:cNvPr id="10" name="Shape 7"/>
          <p:cNvSpPr/>
          <p:nvPr/>
        </p:nvSpPr>
        <p:spPr>
          <a:xfrm>
            <a:off x="6199632" y="1645920"/>
            <a:ext cx="5257800" cy="4572000"/>
          </a:xfrm>
          <a:prstGeom prst="roundRect">
            <a:avLst>
              <a:gd name="adj" fmla="val 2800"/>
            </a:avLst>
          </a:prstGeom>
          <a:solidFill>
            <a:srgbClr val="FFE0E0"/>
          </a:solidFill>
          <a:ln w="12700">
            <a:solidFill>
              <a:srgbClr val="FFE0E0"/>
            </a:solidFill>
            <a:prstDash val="solid"/>
          </a:ln>
          <a:effectLst>
            <a:outerShdw sx="100000" sy="100000" kx="0" ky="0" algn="bl" rotWithShape="0" blurRad="127000" dist="38100" dir="5400000">
              <a:srgbClr val="6C5CE7">
                <a:alpha val="10000"/>
              </a:srgbClr>
            </a:outerShdw>
          </a:effectLst>
        </p:spPr>
      </p:sp>
      <p:pic>
        <p:nvPicPr>
          <p:cNvPr id="11" name="Image 1" descr="preencoded.png">    </p:cNvPr>
          <p:cNvPicPr>
            <a:picLocks noChangeAspect="1"/>
          </p:cNvPicPr>
          <p:nvPr/>
        </p:nvPicPr>
        <p:blipFill>
          <a:blip r:embed="rId2"/>
          <a:stretch>
            <a:fillRect/>
          </a:stretch>
        </p:blipFill>
        <p:spPr>
          <a:xfrm>
            <a:off x="6428232" y="1874520"/>
            <a:ext cx="640080" cy="640080"/>
          </a:xfrm>
          <a:prstGeom prst="rect">
            <a:avLst/>
          </a:prstGeom>
        </p:spPr>
      </p:pic>
      <p:sp>
        <p:nvSpPr>
          <p:cNvPr id="12" name="Text 8"/>
          <p:cNvSpPr/>
          <p:nvPr/>
        </p:nvSpPr>
        <p:spPr>
          <a:xfrm>
            <a:off x="7205472" y="1920240"/>
            <a:ext cx="4023360" cy="365760"/>
          </a:xfrm>
          <a:prstGeom prst="rect">
            <a:avLst/>
          </a:prstGeom>
          <a:noFill/>
          <a:ln/>
        </p:spPr>
        <p:txBody>
          <a:bodyPr wrap="square" lIns="0" tIns="0" rIns="0" bIns="0" rtlCol="0" anchor="ctr"/>
          <a:lstStyle/>
          <a:p>
            <a:pPr indent="0" marL="0">
              <a:buNone/>
            </a:pPr>
            <a:r>
              <a:rPr lang="en-US" sz="1200" b="1" spc="300" kern="0" dirty="0">
                <a:solidFill>
                  <a:srgbClr val="FF5A6E"/>
                </a:solidFill>
                <a:latin typeface="Calibri" pitchFamily="34" charset="0"/>
                <a:ea typeface="Calibri" pitchFamily="34" charset="-122"/>
                <a:cs typeface="Calibri" pitchFamily="34" charset="-120"/>
              </a:rPr>
              <a:t>WHAT THEY MISS</a:t>
            </a:r>
            <a:endParaRPr lang="en-US" sz="1200" dirty="0"/>
          </a:p>
        </p:txBody>
      </p:sp>
      <p:sp>
        <p:nvSpPr>
          <p:cNvPr id="13" name="Text 9"/>
          <p:cNvSpPr/>
          <p:nvPr/>
        </p:nvSpPr>
        <p:spPr>
          <a:xfrm>
            <a:off x="6428232" y="2651760"/>
            <a:ext cx="4754880" cy="457200"/>
          </a:xfrm>
          <a:prstGeom prst="rect">
            <a:avLst/>
          </a:prstGeom>
          <a:noFill/>
          <a:ln/>
        </p:spPr>
        <p:txBody>
          <a:bodyPr wrap="square" lIns="0" tIns="0" rIns="0" bIns="0" rtlCol="0" anchor="ctr"/>
          <a:lstStyle/>
          <a:p>
            <a:pPr indent="0" marL="0">
              <a:buNone/>
            </a:pPr>
            <a:r>
              <a:rPr lang="en-US" sz="2400" b="1" dirty="0">
                <a:solidFill>
                  <a:srgbClr val="1A1730"/>
                </a:solidFill>
                <a:latin typeface="Cambria" pitchFamily="34" charset="0"/>
                <a:ea typeface="Cambria" pitchFamily="34" charset="-122"/>
                <a:cs typeface="Cambria" pitchFamily="34" charset="-120"/>
              </a:rPr>
              <a:t>Human context</a:t>
            </a:r>
            <a:endParaRPr lang="en-US" sz="2400" dirty="0"/>
          </a:p>
        </p:txBody>
      </p:sp>
      <p:sp>
        <p:nvSpPr>
          <p:cNvPr id="14" name="Text 10"/>
          <p:cNvSpPr/>
          <p:nvPr/>
        </p:nvSpPr>
        <p:spPr>
          <a:xfrm>
            <a:off x="6519672" y="3246120"/>
            <a:ext cx="4663440" cy="2834640"/>
          </a:xfrm>
          <a:prstGeom prst="rect">
            <a:avLst/>
          </a:prstGeom>
          <a:noFill/>
          <a:ln/>
        </p:spPr>
        <p:txBody>
          <a:bodyPr wrap="square" rtlCol="0" anchor="ctr"/>
          <a:lstStyle/>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Language and lyrics</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Genre conventions</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Era — 60s vs 2020s</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Cultural context</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Artist identity</a:t>
            </a:r>
            <a:endParaRPr lang="en-US" sz="1550" dirty="0"/>
          </a:p>
          <a:p>
            <a:pPr marL="342900" indent="-342900">
              <a:spcAft>
                <a:spcPts val="900"/>
              </a:spcAft>
              <a:buSzPct val="100000"/>
              <a:buChar char="•"/>
            </a:pPr>
            <a:r>
              <a:rPr lang="en-US" sz="1550" dirty="0">
                <a:solidFill>
                  <a:srgbClr val="1A1730"/>
                </a:solidFill>
                <a:latin typeface="Calibri" pitchFamily="34" charset="0"/>
                <a:ea typeface="Calibri" pitchFamily="34" charset="-122"/>
                <a:cs typeface="Calibri" pitchFamily="34" charset="-120"/>
              </a:rPr>
              <a:t>What listeners pair together</a:t>
            </a:r>
            <a:endParaRPr lang="en-US" sz="1550" dirty="0"/>
          </a:p>
        </p:txBody>
      </p:sp>
      <p:sp>
        <p:nvSpPr>
          <p:cNvPr id="15" name="Text 11"/>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6</a:t>
            </a:r>
            <a:endParaRPr lang="en-US" sz="1100" dirty="0"/>
          </a:p>
        </p:txBody>
      </p:sp>
      <p:sp>
        <p:nvSpPr>
          <p:cNvPr id="16" name="Text 12"/>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Q4  ·  IS K-MEANS THE RIGHT TOOL?</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3000" b="1" dirty="0">
                <a:solidFill>
                  <a:srgbClr val="1A1730"/>
                </a:solidFill>
                <a:latin typeface="Cambria" pitchFamily="34" charset="0"/>
                <a:ea typeface="Cambria" pitchFamily="34" charset="-122"/>
                <a:cs typeface="Cambria" pitchFamily="34" charset="-120"/>
              </a:rPr>
              <a:t>A strong start — not the final answer</a:t>
            </a:r>
            <a:endParaRPr lang="en-US" sz="3000" dirty="0"/>
          </a:p>
        </p:txBody>
      </p:sp>
      <p:sp>
        <p:nvSpPr>
          <p:cNvPr id="4" name="Shape 2"/>
          <p:cNvSpPr/>
          <p:nvPr/>
        </p:nvSpPr>
        <p:spPr>
          <a:xfrm>
            <a:off x="731520" y="1645920"/>
            <a:ext cx="5257800" cy="4572000"/>
          </a:xfrm>
          <a:prstGeom prst="roundRect">
            <a:avLst>
              <a:gd name="adj" fmla="val 2800"/>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pic>
        <p:nvPicPr>
          <p:cNvPr id="5" name="Image 0" descr="preencoded.png">    </p:cNvPr>
          <p:cNvPicPr>
            <a:picLocks noChangeAspect="1"/>
          </p:cNvPicPr>
          <p:nvPr/>
        </p:nvPicPr>
        <p:blipFill>
          <a:blip r:embed="rId1"/>
          <a:stretch>
            <a:fillRect/>
          </a:stretch>
        </p:blipFill>
        <p:spPr>
          <a:xfrm>
            <a:off x="960120" y="1874520"/>
            <a:ext cx="566928" cy="566928"/>
          </a:xfrm>
          <a:prstGeom prst="rect">
            <a:avLst/>
          </a:prstGeom>
        </p:spPr>
      </p:pic>
      <p:sp>
        <p:nvSpPr>
          <p:cNvPr id="6" name="Text 3"/>
          <p:cNvSpPr/>
          <p:nvPr/>
        </p:nvSpPr>
        <p:spPr>
          <a:xfrm>
            <a:off x="1691640" y="1920240"/>
            <a:ext cx="4023360" cy="365760"/>
          </a:xfrm>
          <a:prstGeom prst="rect">
            <a:avLst/>
          </a:prstGeom>
          <a:noFill/>
          <a:ln/>
        </p:spPr>
        <p:txBody>
          <a:bodyPr wrap="square" lIns="0" tIns="0" rIns="0" bIns="0" rtlCol="0" anchor="ctr"/>
          <a:lstStyle/>
          <a:p>
            <a:pPr indent="0" marL="0">
              <a:buNone/>
            </a:pPr>
            <a:r>
              <a:rPr lang="en-US" sz="1300" b="1" spc="300" kern="0" dirty="0">
                <a:solidFill>
                  <a:srgbClr val="10B981"/>
                </a:solidFill>
                <a:latin typeface="Calibri" pitchFamily="34" charset="0"/>
                <a:ea typeface="Calibri" pitchFamily="34" charset="-122"/>
                <a:cs typeface="Calibri" pitchFamily="34" charset="-120"/>
              </a:rPr>
              <a:t>PROS</a:t>
            </a:r>
            <a:endParaRPr lang="en-US" sz="1300" dirty="0"/>
          </a:p>
        </p:txBody>
      </p:sp>
      <p:sp>
        <p:nvSpPr>
          <p:cNvPr id="7" name="Text 4"/>
          <p:cNvSpPr/>
          <p:nvPr/>
        </p:nvSpPr>
        <p:spPr>
          <a:xfrm>
            <a:off x="960120" y="2697480"/>
            <a:ext cx="4754880" cy="320040"/>
          </a:xfrm>
          <a:prstGeom prst="rect">
            <a:avLst/>
          </a:prstGeom>
          <a:noFill/>
          <a:ln/>
        </p:spPr>
        <p:txBody>
          <a:bodyPr wrap="square" lIns="0" tIns="0" rIns="0" bIns="0" rtlCol="0" anchor="ctr"/>
          <a:lstStyle/>
          <a:p>
            <a:pPr indent="0" marL="0">
              <a:buNone/>
            </a:pPr>
            <a:r>
              <a:rPr lang="en-US" sz="1700" b="1" dirty="0">
                <a:solidFill>
                  <a:srgbClr val="6C5CE7"/>
                </a:solidFill>
                <a:latin typeface="Cambria" pitchFamily="34" charset="0"/>
                <a:ea typeface="Cambria" pitchFamily="34" charset="-122"/>
                <a:cs typeface="Cambria" pitchFamily="34" charset="-120"/>
              </a:rPr>
              <a:t>Fast</a:t>
            </a:r>
            <a:endParaRPr lang="en-US" sz="1700" dirty="0"/>
          </a:p>
        </p:txBody>
      </p:sp>
      <p:sp>
        <p:nvSpPr>
          <p:cNvPr id="8" name="Text 5"/>
          <p:cNvSpPr/>
          <p:nvPr/>
        </p:nvSpPr>
        <p:spPr>
          <a:xfrm>
            <a:off x="960120" y="302666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5,000 songs in seconds; scales to millions</a:t>
            </a:r>
            <a:endParaRPr lang="en-US" sz="1250" dirty="0"/>
          </a:p>
        </p:txBody>
      </p:sp>
      <p:sp>
        <p:nvSpPr>
          <p:cNvPr id="9" name="Text 6"/>
          <p:cNvSpPr/>
          <p:nvPr/>
        </p:nvSpPr>
        <p:spPr>
          <a:xfrm>
            <a:off x="960120" y="3566160"/>
            <a:ext cx="4754880" cy="320040"/>
          </a:xfrm>
          <a:prstGeom prst="rect">
            <a:avLst/>
          </a:prstGeom>
          <a:noFill/>
          <a:ln/>
        </p:spPr>
        <p:txBody>
          <a:bodyPr wrap="square" lIns="0" tIns="0" rIns="0" bIns="0" rtlCol="0" anchor="ctr"/>
          <a:lstStyle/>
          <a:p>
            <a:pPr indent="0" marL="0">
              <a:buNone/>
            </a:pPr>
            <a:r>
              <a:rPr lang="en-US" sz="1700" b="1" dirty="0">
                <a:solidFill>
                  <a:srgbClr val="6C5CE7"/>
                </a:solidFill>
                <a:latin typeface="Cambria" pitchFamily="34" charset="0"/>
                <a:ea typeface="Cambria" pitchFamily="34" charset="-122"/>
                <a:cs typeface="Cambria" pitchFamily="34" charset="-120"/>
              </a:rPr>
              <a:t>Interpretable</a:t>
            </a:r>
            <a:endParaRPr lang="en-US" sz="1700" dirty="0"/>
          </a:p>
        </p:txBody>
      </p:sp>
      <p:sp>
        <p:nvSpPr>
          <p:cNvPr id="10" name="Text 7"/>
          <p:cNvSpPr/>
          <p:nvPr/>
        </p:nvSpPr>
        <p:spPr>
          <a:xfrm>
            <a:off x="960120" y="389534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every cluster has a readable profile we can name</a:t>
            </a:r>
            <a:endParaRPr lang="en-US" sz="1250" dirty="0"/>
          </a:p>
        </p:txBody>
      </p:sp>
      <p:sp>
        <p:nvSpPr>
          <p:cNvPr id="11" name="Text 8"/>
          <p:cNvSpPr/>
          <p:nvPr/>
        </p:nvSpPr>
        <p:spPr>
          <a:xfrm>
            <a:off x="960120" y="4434840"/>
            <a:ext cx="4754880" cy="320040"/>
          </a:xfrm>
          <a:prstGeom prst="rect">
            <a:avLst/>
          </a:prstGeom>
          <a:noFill/>
          <a:ln/>
        </p:spPr>
        <p:txBody>
          <a:bodyPr wrap="square" lIns="0" tIns="0" rIns="0" bIns="0" rtlCol="0" anchor="ctr"/>
          <a:lstStyle/>
          <a:p>
            <a:pPr indent="0" marL="0">
              <a:buNone/>
            </a:pPr>
            <a:r>
              <a:rPr lang="en-US" sz="1700" b="1" dirty="0">
                <a:solidFill>
                  <a:srgbClr val="6C5CE7"/>
                </a:solidFill>
                <a:latin typeface="Cambria" pitchFamily="34" charset="0"/>
                <a:ea typeface="Cambria" pitchFamily="34" charset="-122"/>
                <a:cs typeface="Cambria" pitchFamily="34" charset="-120"/>
              </a:rPr>
              <a:t>Reproducible</a:t>
            </a:r>
            <a:endParaRPr lang="en-US" sz="1700" dirty="0"/>
          </a:p>
        </p:txBody>
      </p:sp>
      <p:sp>
        <p:nvSpPr>
          <p:cNvPr id="12" name="Text 9"/>
          <p:cNvSpPr/>
          <p:nvPr/>
        </p:nvSpPr>
        <p:spPr>
          <a:xfrm>
            <a:off x="960120" y="476402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same input, same output, every time</a:t>
            </a:r>
            <a:endParaRPr lang="en-US" sz="1250" dirty="0"/>
          </a:p>
        </p:txBody>
      </p:sp>
      <p:sp>
        <p:nvSpPr>
          <p:cNvPr id="13" name="Text 10"/>
          <p:cNvSpPr/>
          <p:nvPr/>
        </p:nvSpPr>
        <p:spPr>
          <a:xfrm>
            <a:off x="960120" y="5303520"/>
            <a:ext cx="4754880" cy="320040"/>
          </a:xfrm>
          <a:prstGeom prst="rect">
            <a:avLst/>
          </a:prstGeom>
          <a:noFill/>
          <a:ln/>
        </p:spPr>
        <p:txBody>
          <a:bodyPr wrap="square" lIns="0" tIns="0" rIns="0" bIns="0" rtlCol="0" anchor="ctr"/>
          <a:lstStyle/>
          <a:p>
            <a:pPr indent="0" marL="0">
              <a:buNone/>
            </a:pPr>
            <a:r>
              <a:rPr lang="en-US" sz="1700" b="1" dirty="0">
                <a:solidFill>
                  <a:srgbClr val="6C5CE7"/>
                </a:solidFill>
                <a:latin typeface="Cambria" pitchFamily="34" charset="0"/>
                <a:ea typeface="Cambria" pitchFamily="34" charset="-122"/>
                <a:cs typeface="Cambria" pitchFamily="34" charset="-120"/>
              </a:rPr>
              <a:t>Free</a:t>
            </a:r>
            <a:endParaRPr lang="en-US" sz="1700" dirty="0"/>
          </a:p>
        </p:txBody>
      </p:sp>
      <p:sp>
        <p:nvSpPr>
          <p:cNvPr id="14" name="Text 11"/>
          <p:cNvSpPr/>
          <p:nvPr/>
        </p:nvSpPr>
        <p:spPr>
          <a:xfrm>
            <a:off x="960120" y="563270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no licensing or API cost; runs on a laptop</a:t>
            </a:r>
            <a:endParaRPr lang="en-US" sz="1250" dirty="0"/>
          </a:p>
        </p:txBody>
      </p:sp>
      <p:sp>
        <p:nvSpPr>
          <p:cNvPr id="15" name="Shape 12"/>
          <p:cNvSpPr/>
          <p:nvPr/>
        </p:nvSpPr>
        <p:spPr>
          <a:xfrm>
            <a:off x="6199632" y="1645920"/>
            <a:ext cx="5257800" cy="4572000"/>
          </a:xfrm>
          <a:prstGeom prst="roundRect">
            <a:avLst>
              <a:gd name="adj" fmla="val 2800"/>
            </a:avLst>
          </a:prstGeom>
          <a:solidFill>
            <a:srgbClr val="FFE0E0"/>
          </a:solidFill>
          <a:ln w="12700">
            <a:solidFill>
              <a:srgbClr val="FFE0E0"/>
            </a:solidFill>
            <a:prstDash val="solid"/>
          </a:ln>
          <a:effectLst>
            <a:outerShdw sx="100000" sy="100000" kx="0" ky="0" algn="bl" rotWithShape="0" blurRad="127000" dist="38100" dir="5400000">
              <a:srgbClr val="6C5CE7">
                <a:alpha val="10000"/>
              </a:srgbClr>
            </a:outerShdw>
          </a:effectLst>
        </p:spPr>
      </p:sp>
      <p:pic>
        <p:nvPicPr>
          <p:cNvPr id="16" name="Image 1" descr="preencoded.png">    </p:cNvPr>
          <p:cNvPicPr>
            <a:picLocks noChangeAspect="1"/>
          </p:cNvPicPr>
          <p:nvPr/>
        </p:nvPicPr>
        <p:blipFill>
          <a:blip r:embed="rId2"/>
          <a:stretch>
            <a:fillRect/>
          </a:stretch>
        </p:blipFill>
        <p:spPr>
          <a:xfrm>
            <a:off x="6428232" y="1874520"/>
            <a:ext cx="566928" cy="566928"/>
          </a:xfrm>
          <a:prstGeom prst="rect">
            <a:avLst/>
          </a:prstGeom>
        </p:spPr>
      </p:pic>
      <p:sp>
        <p:nvSpPr>
          <p:cNvPr id="17" name="Text 13"/>
          <p:cNvSpPr/>
          <p:nvPr/>
        </p:nvSpPr>
        <p:spPr>
          <a:xfrm>
            <a:off x="7159752" y="1920240"/>
            <a:ext cx="4023360" cy="365760"/>
          </a:xfrm>
          <a:prstGeom prst="rect">
            <a:avLst/>
          </a:prstGeom>
          <a:noFill/>
          <a:ln/>
        </p:spPr>
        <p:txBody>
          <a:bodyPr wrap="square" lIns="0" tIns="0" rIns="0" bIns="0" rtlCol="0" anchor="ctr"/>
          <a:lstStyle/>
          <a:p>
            <a:pPr indent="0" marL="0">
              <a:buNone/>
            </a:pPr>
            <a:r>
              <a:rPr lang="en-US" sz="1300" b="1" spc="300" kern="0" dirty="0">
                <a:solidFill>
                  <a:srgbClr val="FF5A6E"/>
                </a:solidFill>
                <a:latin typeface="Calibri" pitchFamily="34" charset="0"/>
                <a:ea typeface="Calibri" pitchFamily="34" charset="-122"/>
                <a:cs typeface="Calibri" pitchFamily="34" charset="-120"/>
              </a:rPr>
              <a:t>CONS</a:t>
            </a:r>
            <a:endParaRPr lang="en-US" sz="1300" dirty="0"/>
          </a:p>
        </p:txBody>
      </p:sp>
      <p:sp>
        <p:nvSpPr>
          <p:cNvPr id="18" name="Text 14"/>
          <p:cNvSpPr/>
          <p:nvPr/>
        </p:nvSpPr>
        <p:spPr>
          <a:xfrm>
            <a:off x="6428232" y="2697480"/>
            <a:ext cx="4754880" cy="320040"/>
          </a:xfrm>
          <a:prstGeom prst="rect">
            <a:avLst/>
          </a:prstGeom>
          <a:noFill/>
          <a:ln/>
        </p:spPr>
        <p:txBody>
          <a:bodyPr wrap="square" lIns="0" tIns="0" rIns="0" bIns="0" rtlCol="0" anchor="ctr"/>
          <a:lstStyle/>
          <a:p>
            <a:pPr indent="0" marL="0">
              <a:buNone/>
            </a:pPr>
            <a:r>
              <a:rPr lang="en-US" sz="1700" b="1" dirty="0">
                <a:solidFill>
                  <a:srgbClr val="FF5A6E"/>
                </a:solidFill>
                <a:latin typeface="Cambria" pitchFamily="34" charset="0"/>
                <a:ea typeface="Cambria" pitchFamily="34" charset="-122"/>
                <a:cs typeface="Cambria" pitchFamily="34" charset="-120"/>
              </a:rPr>
              <a:t>Forces every song in</a:t>
            </a:r>
            <a:endParaRPr lang="en-US" sz="1700" dirty="0"/>
          </a:p>
        </p:txBody>
      </p:sp>
      <p:sp>
        <p:nvSpPr>
          <p:cNvPr id="19" name="Text 15"/>
          <p:cNvSpPr/>
          <p:nvPr/>
        </p:nvSpPr>
        <p:spPr>
          <a:xfrm>
            <a:off x="6428232" y="302666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creates leftover buckets like the one we saw</a:t>
            </a:r>
            <a:endParaRPr lang="en-US" sz="1250" dirty="0"/>
          </a:p>
        </p:txBody>
      </p:sp>
      <p:sp>
        <p:nvSpPr>
          <p:cNvPr id="20" name="Text 16"/>
          <p:cNvSpPr/>
          <p:nvPr/>
        </p:nvSpPr>
        <p:spPr>
          <a:xfrm>
            <a:off x="6428232" y="3566160"/>
            <a:ext cx="4754880" cy="320040"/>
          </a:xfrm>
          <a:prstGeom prst="rect">
            <a:avLst/>
          </a:prstGeom>
          <a:noFill/>
          <a:ln/>
        </p:spPr>
        <p:txBody>
          <a:bodyPr wrap="square" lIns="0" tIns="0" rIns="0" bIns="0" rtlCol="0" anchor="ctr"/>
          <a:lstStyle/>
          <a:p>
            <a:pPr indent="0" marL="0">
              <a:buNone/>
            </a:pPr>
            <a:r>
              <a:rPr lang="en-US" sz="1700" b="1" dirty="0">
                <a:solidFill>
                  <a:srgbClr val="FF5A6E"/>
                </a:solidFill>
                <a:latin typeface="Cambria" pitchFamily="34" charset="0"/>
                <a:ea typeface="Cambria" pitchFamily="34" charset="-122"/>
                <a:cs typeface="Cambria" pitchFamily="34" charset="-120"/>
              </a:rPr>
              <a:t>Manual playlist count</a:t>
            </a:r>
            <a:endParaRPr lang="en-US" sz="1700" dirty="0"/>
          </a:p>
        </p:txBody>
      </p:sp>
      <p:sp>
        <p:nvSpPr>
          <p:cNvPr id="21" name="Text 17"/>
          <p:cNvSpPr/>
          <p:nvPr/>
        </p:nvSpPr>
        <p:spPr>
          <a:xfrm>
            <a:off x="6428232" y="389534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no automatic 'right number'</a:t>
            </a:r>
            <a:endParaRPr lang="en-US" sz="1250" dirty="0"/>
          </a:p>
        </p:txBody>
      </p:sp>
      <p:sp>
        <p:nvSpPr>
          <p:cNvPr id="22" name="Text 18"/>
          <p:cNvSpPr/>
          <p:nvPr/>
        </p:nvSpPr>
        <p:spPr>
          <a:xfrm>
            <a:off x="6428232" y="4434840"/>
            <a:ext cx="4754880" cy="320040"/>
          </a:xfrm>
          <a:prstGeom prst="rect">
            <a:avLst/>
          </a:prstGeom>
          <a:noFill/>
          <a:ln/>
        </p:spPr>
        <p:txBody>
          <a:bodyPr wrap="square" lIns="0" tIns="0" rIns="0" bIns="0" rtlCol="0" anchor="ctr"/>
          <a:lstStyle/>
          <a:p>
            <a:pPr indent="0" marL="0">
              <a:buNone/>
            </a:pPr>
            <a:r>
              <a:rPr lang="en-US" sz="1700" b="1" dirty="0">
                <a:solidFill>
                  <a:srgbClr val="FF5A6E"/>
                </a:solidFill>
                <a:latin typeface="Cambria" pitchFamily="34" charset="0"/>
                <a:ea typeface="Cambria" pitchFamily="34" charset="-122"/>
                <a:cs typeface="Cambria" pitchFamily="34" charset="-120"/>
              </a:rPr>
              <a:t>Ignores genre &amp; culture</a:t>
            </a:r>
            <a:endParaRPr lang="en-US" sz="1700" dirty="0"/>
          </a:p>
        </p:txBody>
      </p:sp>
      <p:sp>
        <p:nvSpPr>
          <p:cNvPr id="23" name="Text 19"/>
          <p:cNvSpPr/>
          <p:nvPr/>
        </p:nvSpPr>
        <p:spPr>
          <a:xfrm>
            <a:off x="6428232" y="476402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sees the sound, not the meaning</a:t>
            </a:r>
            <a:endParaRPr lang="en-US" sz="1250" dirty="0"/>
          </a:p>
        </p:txBody>
      </p:sp>
      <p:sp>
        <p:nvSpPr>
          <p:cNvPr id="24" name="Text 20"/>
          <p:cNvSpPr/>
          <p:nvPr/>
        </p:nvSpPr>
        <p:spPr>
          <a:xfrm>
            <a:off x="6428232" y="5303520"/>
            <a:ext cx="4754880" cy="320040"/>
          </a:xfrm>
          <a:prstGeom prst="rect">
            <a:avLst/>
          </a:prstGeom>
          <a:noFill/>
          <a:ln/>
        </p:spPr>
        <p:txBody>
          <a:bodyPr wrap="square" lIns="0" tIns="0" rIns="0" bIns="0" rtlCol="0" anchor="ctr"/>
          <a:lstStyle/>
          <a:p>
            <a:pPr indent="0" marL="0">
              <a:buNone/>
            </a:pPr>
            <a:r>
              <a:rPr lang="en-US" sz="1700" b="1" dirty="0">
                <a:solidFill>
                  <a:srgbClr val="FF5A6E"/>
                </a:solidFill>
                <a:latin typeface="Cambria" pitchFamily="34" charset="0"/>
                <a:ea typeface="Cambria" pitchFamily="34" charset="-122"/>
                <a:cs typeface="Cambria" pitchFamily="34" charset="-120"/>
              </a:rPr>
              <a:t>No size limits built in</a:t>
            </a:r>
            <a:endParaRPr lang="en-US" sz="1700" dirty="0"/>
          </a:p>
        </p:txBody>
      </p:sp>
      <p:sp>
        <p:nvSpPr>
          <p:cNvPr id="25" name="Text 21"/>
          <p:cNvSpPr/>
          <p:nvPr/>
        </p:nvSpPr>
        <p:spPr>
          <a:xfrm>
            <a:off x="6428232" y="5632704"/>
            <a:ext cx="4754880" cy="365760"/>
          </a:xfrm>
          <a:prstGeom prst="rect">
            <a:avLst/>
          </a:prstGeom>
          <a:noFill/>
          <a:ln/>
        </p:spPr>
        <p:txBody>
          <a:bodyPr wrap="square" lIns="0" tIns="0" rIns="0" bIns="0" rtlCol="0" anchor="ctr"/>
          <a:lstStyle/>
          <a:p>
            <a:pPr indent="0" marL="0">
              <a:buNone/>
            </a:pPr>
            <a:r>
              <a:rPr lang="en-US" sz="1250" dirty="0">
                <a:solidFill>
                  <a:srgbClr val="1A1730"/>
                </a:solidFill>
                <a:latin typeface="Calibri" pitchFamily="34" charset="0"/>
                <a:ea typeface="Calibri" pitchFamily="34" charset="-122"/>
                <a:cs typeface="Calibri" pitchFamily="34" charset="-120"/>
              </a:rPr>
              <a:t>we had to add custom post-processing</a:t>
            </a:r>
            <a:endParaRPr lang="en-US" sz="1250" dirty="0"/>
          </a:p>
        </p:txBody>
      </p:sp>
      <p:sp>
        <p:nvSpPr>
          <p:cNvPr id="26" name="Text 22"/>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7</a:t>
            </a:r>
            <a:endParaRPr lang="en-US" sz="1100" dirty="0"/>
          </a:p>
        </p:txBody>
      </p:sp>
      <p:sp>
        <p:nvSpPr>
          <p:cNvPr id="27" name="Text 23"/>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F"/>
        </a:solidFill>
      </p:bgPr>
    </p:bg>
    <p:spTree>
      <p:nvGrpSpPr>
        <p:cNvPr id="1" name=""/>
        <p:cNvGrpSpPr/>
        <p:nvPr/>
      </p:nvGrpSpPr>
      <p:grpSpPr>
        <a:xfrm>
          <a:off x="0" y="0"/>
          <a:ext cx="0" cy="0"/>
          <a:chOff x="0" y="0"/>
          <a:chExt cx="0" cy="0"/>
        </a:xfrm>
      </p:grpSpPr>
      <p:sp>
        <p:nvSpPr>
          <p:cNvPr id="2" name="Text 0"/>
          <p:cNvSpPr/>
          <p:nvPr/>
        </p:nvSpPr>
        <p:spPr>
          <a:xfrm>
            <a:off x="731520" y="50292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Q5  ·  NEXT STEPS</a:t>
            </a:r>
            <a:endParaRPr lang="en-US" sz="1300" dirty="0"/>
          </a:p>
        </p:txBody>
      </p:sp>
      <p:sp>
        <p:nvSpPr>
          <p:cNvPr id="3" name="Text 1"/>
          <p:cNvSpPr/>
          <p:nvPr/>
        </p:nvSpPr>
        <p:spPr>
          <a:xfrm>
            <a:off x="731520" y="868680"/>
            <a:ext cx="10515600" cy="548640"/>
          </a:xfrm>
          <a:prstGeom prst="rect">
            <a:avLst/>
          </a:prstGeom>
          <a:noFill/>
          <a:ln/>
        </p:spPr>
        <p:txBody>
          <a:bodyPr wrap="square" lIns="0" tIns="0" rIns="0" bIns="0" rtlCol="0" anchor="ctr"/>
          <a:lstStyle/>
          <a:p>
            <a:pPr indent="0" marL="0">
              <a:buNone/>
            </a:pPr>
            <a:r>
              <a:rPr lang="en-US" sz="3000" b="1" dirty="0">
                <a:solidFill>
                  <a:srgbClr val="1A1730"/>
                </a:solidFill>
                <a:latin typeface="Cambria" pitchFamily="34" charset="0"/>
                <a:ea typeface="Cambria" pitchFamily="34" charset="-122"/>
                <a:cs typeface="Cambria" pitchFamily="34" charset="-120"/>
              </a:rPr>
              <a:t>Where we'd take this next, by impact</a:t>
            </a:r>
            <a:endParaRPr lang="en-US" sz="3000" dirty="0"/>
          </a:p>
        </p:txBody>
      </p:sp>
      <p:sp>
        <p:nvSpPr>
          <p:cNvPr id="4" name="Shape 2"/>
          <p:cNvSpPr/>
          <p:nvPr/>
        </p:nvSpPr>
        <p:spPr>
          <a:xfrm>
            <a:off x="731520" y="1691640"/>
            <a:ext cx="10725912" cy="804672"/>
          </a:xfrm>
          <a:prstGeom prst="roundRect">
            <a:avLst>
              <a:gd name="adj" fmla="val 1136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5" name="Shape 3"/>
          <p:cNvSpPr/>
          <p:nvPr/>
        </p:nvSpPr>
        <p:spPr>
          <a:xfrm>
            <a:off x="960120" y="1865376"/>
            <a:ext cx="457200" cy="457200"/>
          </a:xfrm>
          <a:prstGeom prst="ellipse">
            <a:avLst/>
          </a:prstGeom>
          <a:solidFill>
            <a:srgbClr val="6C5CE7"/>
          </a:solidFill>
          <a:ln w="12700">
            <a:solidFill>
              <a:srgbClr val="6C5CE7"/>
            </a:solidFill>
            <a:prstDash val="solid"/>
          </a:ln>
        </p:spPr>
      </p:sp>
      <p:sp>
        <p:nvSpPr>
          <p:cNvPr id="6" name="Text 4"/>
          <p:cNvSpPr/>
          <p:nvPr/>
        </p:nvSpPr>
        <p:spPr>
          <a:xfrm>
            <a:off x="960120" y="18470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pic>
        <p:nvPicPr>
          <p:cNvPr id="7" name="Image 0" descr="preencoded.png">    </p:cNvPr>
          <p:cNvPicPr>
            <a:picLocks noChangeAspect="1"/>
          </p:cNvPicPr>
          <p:nvPr/>
        </p:nvPicPr>
        <p:blipFill>
          <a:blip r:embed="rId1"/>
          <a:stretch>
            <a:fillRect/>
          </a:stretch>
        </p:blipFill>
        <p:spPr>
          <a:xfrm>
            <a:off x="1691640" y="1911096"/>
            <a:ext cx="365760" cy="365760"/>
          </a:xfrm>
          <a:prstGeom prst="rect">
            <a:avLst/>
          </a:prstGeom>
        </p:spPr>
      </p:pic>
      <p:sp>
        <p:nvSpPr>
          <p:cNvPr id="8" name="Text 5"/>
          <p:cNvSpPr/>
          <p:nvPr/>
        </p:nvSpPr>
        <p:spPr>
          <a:xfrm>
            <a:off x="2240280" y="1783080"/>
            <a:ext cx="4846320" cy="365760"/>
          </a:xfrm>
          <a:prstGeom prst="rect">
            <a:avLst/>
          </a:prstGeom>
          <a:noFill/>
          <a:ln/>
        </p:spPr>
        <p:txBody>
          <a:bodyPr wrap="square" lIns="0" tIns="0" rIns="0" bIns="0" rtlCol="0" anchor="ctr"/>
          <a:lstStyle/>
          <a:p>
            <a:pPr indent="0" marL="0">
              <a:buNone/>
            </a:pPr>
            <a:r>
              <a:rPr lang="en-US" sz="1600" b="1" dirty="0">
                <a:solidFill>
                  <a:srgbClr val="1A1730"/>
                </a:solidFill>
                <a:latin typeface="Cambria" pitchFamily="34" charset="0"/>
                <a:ea typeface="Cambria" pitchFamily="34" charset="-122"/>
                <a:cs typeface="Cambria" pitchFamily="34" charset="-120"/>
              </a:rPr>
              <a:t>Add metadata</a:t>
            </a:r>
            <a:endParaRPr lang="en-US" sz="1600" dirty="0"/>
          </a:p>
        </p:txBody>
      </p:sp>
      <p:sp>
        <p:nvSpPr>
          <p:cNvPr id="9" name="Text 6"/>
          <p:cNvSpPr/>
          <p:nvPr/>
        </p:nvSpPr>
        <p:spPr>
          <a:xfrm>
            <a:off x="2240280" y="2112264"/>
            <a:ext cx="5943600" cy="32004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Genre, artist, release year from Spotify's API</a:t>
            </a:r>
            <a:endParaRPr lang="en-US" sz="1150" dirty="0"/>
          </a:p>
        </p:txBody>
      </p:sp>
      <p:sp>
        <p:nvSpPr>
          <p:cNvPr id="10" name="Text 7"/>
          <p:cNvSpPr/>
          <p:nvPr/>
        </p:nvSpPr>
        <p:spPr>
          <a:xfrm>
            <a:off x="8503920" y="1947672"/>
            <a:ext cx="2743200" cy="320040"/>
          </a:xfrm>
          <a:prstGeom prst="rect">
            <a:avLst/>
          </a:prstGeom>
          <a:noFill/>
          <a:ln/>
        </p:spPr>
        <p:txBody>
          <a:bodyPr wrap="square" lIns="0" tIns="0" rIns="0" bIns="0" rtlCol="0" anchor="ctr"/>
          <a:lstStyle/>
          <a:p>
            <a:pPr algn="r" indent="0" marL="0">
              <a:buNone/>
            </a:pPr>
            <a:r>
              <a:rPr lang="en-US" sz="1100" b="1" spc="200" kern="0" dirty="0">
                <a:solidFill>
                  <a:srgbClr val="FF6B6B"/>
                </a:solidFill>
                <a:latin typeface="Calibri" pitchFamily="34" charset="0"/>
                <a:ea typeface="Calibri" pitchFamily="34" charset="-122"/>
                <a:cs typeface="Calibri" pitchFamily="34" charset="-120"/>
              </a:rPr>
              <a:t>HIGHEST IMPACT</a:t>
            </a:r>
            <a:endParaRPr lang="en-US" sz="1100" dirty="0"/>
          </a:p>
        </p:txBody>
      </p:sp>
      <p:sp>
        <p:nvSpPr>
          <p:cNvPr id="11" name="Shape 8"/>
          <p:cNvSpPr/>
          <p:nvPr/>
        </p:nvSpPr>
        <p:spPr>
          <a:xfrm>
            <a:off x="731520" y="2606040"/>
            <a:ext cx="10725912" cy="804672"/>
          </a:xfrm>
          <a:prstGeom prst="roundRect">
            <a:avLst>
              <a:gd name="adj" fmla="val 1136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2" name="Shape 9"/>
          <p:cNvSpPr/>
          <p:nvPr/>
        </p:nvSpPr>
        <p:spPr>
          <a:xfrm>
            <a:off x="960120" y="2779776"/>
            <a:ext cx="457200" cy="457200"/>
          </a:xfrm>
          <a:prstGeom prst="ellipse">
            <a:avLst/>
          </a:prstGeom>
          <a:solidFill>
            <a:srgbClr val="6C5CE7"/>
          </a:solidFill>
          <a:ln w="12700">
            <a:solidFill>
              <a:srgbClr val="6C5CE7"/>
            </a:solidFill>
            <a:prstDash val="solid"/>
          </a:ln>
        </p:spPr>
      </p:sp>
      <p:sp>
        <p:nvSpPr>
          <p:cNvPr id="13" name="Text 10"/>
          <p:cNvSpPr/>
          <p:nvPr/>
        </p:nvSpPr>
        <p:spPr>
          <a:xfrm>
            <a:off x="960120" y="27614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pic>
        <p:nvPicPr>
          <p:cNvPr id="14" name="Image 1" descr="preencoded.png">    </p:cNvPr>
          <p:cNvPicPr>
            <a:picLocks noChangeAspect="1"/>
          </p:cNvPicPr>
          <p:nvPr/>
        </p:nvPicPr>
        <p:blipFill>
          <a:blip r:embed="rId2"/>
          <a:stretch>
            <a:fillRect/>
          </a:stretch>
        </p:blipFill>
        <p:spPr>
          <a:xfrm>
            <a:off x="1691640" y="2825496"/>
            <a:ext cx="365760" cy="365760"/>
          </a:xfrm>
          <a:prstGeom prst="rect">
            <a:avLst/>
          </a:prstGeom>
        </p:spPr>
      </p:pic>
      <p:sp>
        <p:nvSpPr>
          <p:cNvPr id="15" name="Text 11"/>
          <p:cNvSpPr/>
          <p:nvPr/>
        </p:nvSpPr>
        <p:spPr>
          <a:xfrm>
            <a:off x="2240280" y="2697480"/>
            <a:ext cx="4846320" cy="365760"/>
          </a:xfrm>
          <a:prstGeom prst="rect">
            <a:avLst/>
          </a:prstGeom>
          <a:noFill/>
          <a:ln/>
        </p:spPr>
        <p:txBody>
          <a:bodyPr wrap="square" lIns="0" tIns="0" rIns="0" bIns="0" rtlCol="0" anchor="ctr"/>
          <a:lstStyle/>
          <a:p>
            <a:pPr indent="0" marL="0">
              <a:buNone/>
            </a:pPr>
            <a:r>
              <a:rPr lang="en-US" sz="1600" b="1" dirty="0">
                <a:solidFill>
                  <a:srgbClr val="1A1730"/>
                </a:solidFill>
                <a:latin typeface="Cambria" pitchFamily="34" charset="0"/>
                <a:ea typeface="Cambria" pitchFamily="34" charset="-122"/>
                <a:cs typeface="Cambria" pitchFamily="34" charset="-120"/>
              </a:rPr>
              <a:t>Hybrid with curators</a:t>
            </a:r>
            <a:endParaRPr lang="en-US" sz="1600" dirty="0"/>
          </a:p>
        </p:txBody>
      </p:sp>
      <p:sp>
        <p:nvSpPr>
          <p:cNvPr id="16" name="Text 12"/>
          <p:cNvSpPr/>
          <p:nvPr/>
        </p:nvSpPr>
        <p:spPr>
          <a:xfrm>
            <a:off x="2240280" y="3026664"/>
            <a:ext cx="5943600" cy="32004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Experts refine the 41 playlists in a day, not months</a:t>
            </a:r>
            <a:endParaRPr lang="en-US" sz="1150" dirty="0"/>
          </a:p>
        </p:txBody>
      </p:sp>
      <p:sp>
        <p:nvSpPr>
          <p:cNvPr id="17" name="Text 13"/>
          <p:cNvSpPr/>
          <p:nvPr/>
        </p:nvSpPr>
        <p:spPr>
          <a:xfrm>
            <a:off x="8503920" y="2862072"/>
            <a:ext cx="2743200" cy="320040"/>
          </a:xfrm>
          <a:prstGeom prst="rect">
            <a:avLst/>
          </a:prstGeom>
          <a:noFill/>
          <a:ln/>
        </p:spPr>
        <p:txBody>
          <a:bodyPr wrap="square" lIns="0" tIns="0" rIns="0" bIns="0" rtlCol="0" anchor="ctr"/>
          <a:lstStyle/>
          <a:p>
            <a:pPr algn="r" indent="0" marL="0">
              <a:buNone/>
            </a:pPr>
            <a:r>
              <a:rPr lang="en-US" sz="1100" b="1" spc="200" kern="0" dirty="0">
                <a:solidFill>
                  <a:srgbClr val="FF6B6B"/>
                </a:solidFill>
                <a:latin typeface="Calibri" pitchFamily="34" charset="0"/>
                <a:ea typeface="Calibri" pitchFamily="34" charset="-122"/>
                <a:cs typeface="Calibri" pitchFamily="34" charset="-120"/>
              </a:rPr>
              <a:t>QUICK WIN</a:t>
            </a:r>
            <a:endParaRPr lang="en-US" sz="1100" dirty="0"/>
          </a:p>
        </p:txBody>
      </p:sp>
      <p:sp>
        <p:nvSpPr>
          <p:cNvPr id="18" name="Shape 14"/>
          <p:cNvSpPr/>
          <p:nvPr/>
        </p:nvSpPr>
        <p:spPr>
          <a:xfrm>
            <a:off x="731520" y="3520440"/>
            <a:ext cx="10725912" cy="804672"/>
          </a:xfrm>
          <a:prstGeom prst="roundRect">
            <a:avLst>
              <a:gd name="adj" fmla="val 1136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19" name="Shape 15"/>
          <p:cNvSpPr/>
          <p:nvPr/>
        </p:nvSpPr>
        <p:spPr>
          <a:xfrm>
            <a:off x="960120" y="3694176"/>
            <a:ext cx="457200" cy="457200"/>
          </a:xfrm>
          <a:prstGeom prst="ellipse">
            <a:avLst/>
          </a:prstGeom>
          <a:solidFill>
            <a:srgbClr val="6C5CE7"/>
          </a:solidFill>
          <a:ln w="12700">
            <a:solidFill>
              <a:srgbClr val="6C5CE7"/>
            </a:solidFill>
            <a:prstDash val="solid"/>
          </a:ln>
        </p:spPr>
      </p:sp>
      <p:sp>
        <p:nvSpPr>
          <p:cNvPr id="20" name="Text 16"/>
          <p:cNvSpPr/>
          <p:nvPr/>
        </p:nvSpPr>
        <p:spPr>
          <a:xfrm>
            <a:off x="96012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pic>
        <p:nvPicPr>
          <p:cNvPr id="21" name="Image 2" descr="preencoded.png">    </p:cNvPr>
          <p:cNvPicPr>
            <a:picLocks noChangeAspect="1"/>
          </p:cNvPicPr>
          <p:nvPr/>
        </p:nvPicPr>
        <p:blipFill>
          <a:blip r:embed="rId3"/>
          <a:stretch>
            <a:fillRect/>
          </a:stretch>
        </p:blipFill>
        <p:spPr>
          <a:xfrm>
            <a:off x="1691640" y="3739896"/>
            <a:ext cx="365760" cy="365760"/>
          </a:xfrm>
          <a:prstGeom prst="rect">
            <a:avLst/>
          </a:prstGeom>
        </p:spPr>
      </p:pic>
      <p:sp>
        <p:nvSpPr>
          <p:cNvPr id="22" name="Text 17"/>
          <p:cNvSpPr/>
          <p:nvPr/>
        </p:nvSpPr>
        <p:spPr>
          <a:xfrm>
            <a:off x="2240280" y="3611880"/>
            <a:ext cx="4846320" cy="365760"/>
          </a:xfrm>
          <a:prstGeom prst="rect">
            <a:avLst/>
          </a:prstGeom>
          <a:noFill/>
          <a:ln/>
        </p:spPr>
        <p:txBody>
          <a:bodyPr wrap="square" lIns="0" tIns="0" rIns="0" bIns="0" rtlCol="0" anchor="ctr"/>
          <a:lstStyle/>
          <a:p>
            <a:pPr indent="0" marL="0">
              <a:buNone/>
            </a:pPr>
            <a:r>
              <a:rPr lang="en-US" sz="1600" b="1" dirty="0">
                <a:solidFill>
                  <a:srgbClr val="1A1730"/>
                </a:solidFill>
                <a:latin typeface="Cambria" pitchFamily="34" charset="0"/>
                <a:ea typeface="Cambria" pitchFamily="34" charset="-122"/>
                <a:cs typeface="Cambria" pitchFamily="34" charset="-120"/>
              </a:rPr>
              <a:t>Capture listening data</a:t>
            </a:r>
            <a:endParaRPr lang="en-US" sz="1600" dirty="0"/>
          </a:p>
        </p:txBody>
      </p:sp>
      <p:sp>
        <p:nvSpPr>
          <p:cNvPr id="23" name="Text 18"/>
          <p:cNvSpPr/>
          <p:nvPr/>
        </p:nvSpPr>
        <p:spPr>
          <a:xfrm>
            <a:off x="2240280" y="3941064"/>
            <a:ext cx="5943600" cy="32004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What users play together is the strongest signal</a:t>
            </a:r>
            <a:endParaRPr lang="en-US" sz="1150" dirty="0"/>
          </a:p>
        </p:txBody>
      </p:sp>
      <p:sp>
        <p:nvSpPr>
          <p:cNvPr id="24" name="Text 19"/>
          <p:cNvSpPr/>
          <p:nvPr/>
        </p:nvSpPr>
        <p:spPr>
          <a:xfrm>
            <a:off x="8503920" y="3776472"/>
            <a:ext cx="2743200" cy="320040"/>
          </a:xfrm>
          <a:prstGeom prst="rect">
            <a:avLst/>
          </a:prstGeom>
          <a:noFill/>
          <a:ln/>
        </p:spPr>
        <p:txBody>
          <a:bodyPr wrap="square" lIns="0" tIns="0" rIns="0" bIns="0" rtlCol="0" anchor="ctr"/>
          <a:lstStyle/>
          <a:p>
            <a:pPr algn="r" indent="0" marL="0">
              <a:buNone/>
            </a:pPr>
            <a:r>
              <a:rPr lang="en-US" sz="1100" b="1" spc="200" kern="0" dirty="0">
                <a:solidFill>
                  <a:srgbClr val="FF6B6B"/>
                </a:solidFill>
                <a:latin typeface="Calibri" pitchFamily="34" charset="0"/>
                <a:ea typeface="Calibri" pitchFamily="34" charset="-122"/>
                <a:cs typeface="Calibri" pitchFamily="34" charset="-120"/>
              </a:rPr>
              <a:t>LONG-TERM LEVER</a:t>
            </a:r>
            <a:endParaRPr lang="en-US" sz="1100" dirty="0"/>
          </a:p>
        </p:txBody>
      </p:sp>
      <p:sp>
        <p:nvSpPr>
          <p:cNvPr id="25" name="Shape 20"/>
          <p:cNvSpPr/>
          <p:nvPr/>
        </p:nvSpPr>
        <p:spPr>
          <a:xfrm>
            <a:off x="731520" y="4434840"/>
            <a:ext cx="10725912" cy="804672"/>
          </a:xfrm>
          <a:prstGeom prst="roundRect">
            <a:avLst>
              <a:gd name="adj" fmla="val 1136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26" name="Shape 21"/>
          <p:cNvSpPr/>
          <p:nvPr/>
        </p:nvSpPr>
        <p:spPr>
          <a:xfrm>
            <a:off x="960120" y="4608576"/>
            <a:ext cx="457200" cy="457200"/>
          </a:xfrm>
          <a:prstGeom prst="ellipse">
            <a:avLst/>
          </a:prstGeom>
          <a:solidFill>
            <a:srgbClr val="6C5CE7"/>
          </a:solidFill>
          <a:ln w="12700">
            <a:solidFill>
              <a:srgbClr val="6C5CE7"/>
            </a:solidFill>
            <a:prstDash val="solid"/>
          </a:ln>
        </p:spPr>
      </p:sp>
      <p:sp>
        <p:nvSpPr>
          <p:cNvPr id="27" name="Text 22"/>
          <p:cNvSpPr/>
          <p:nvPr/>
        </p:nvSpPr>
        <p:spPr>
          <a:xfrm>
            <a:off x="960120" y="45902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pic>
        <p:nvPicPr>
          <p:cNvPr id="28" name="Image 3" descr="preencoded.png">    </p:cNvPr>
          <p:cNvPicPr>
            <a:picLocks noChangeAspect="1"/>
          </p:cNvPicPr>
          <p:nvPr/>
        </p:nvPicPr>
        <p:blipFill>
          <a:blip r:embed="rId4"/>
          <a:stretch>
            <a:fillRect/>
          </a:stretch>
        </p:blipFill>
        <p:spPr>
          <a:xfrm>
            <a:off x="1691640" y="4654296"/>
            <a:ext cx="365760" cy="365760"/>
          </a:xfrm>
          <a:prstGeom prst="rect">
            <a:avLst/>
          </a:prstGeom>
        </p:spPr>
      </p:pic>
      <p:sp>
        <p:nvSpPr>
          <p:cNvPr id="29" name="Text 23"/>
          <p:cNvSpPr/>
          <p:nvPr/>
        </p:nvSpPr>
        <p:spPr>
          <a:xfrm>
            <a:off x="2240280" y="4526280"/>
            <a:ext cx="4846320" cy="365760"/>
          </a:xfrm>
          <a:prstGeom prst="rect">
            <a:avLst/>
          </a:prstGeom>
          <a:noFill/>
          <a:ln/>
        </p:spPr>
        <p:txBody>
          <a:bodyPr wrap="square" lIns="0" tIns="0" rIns="0" bIns="0" rtlCol="0" anchor="ctr"/>
          <a:lstStyle/>
          <a:p>
            <a:pPr indent="0" marL="0">
              <a:buNone/>
            </a:pPr>
            <a:r>
              <a:rPr lang="en-US" sz="1600" b="1" dirty="0">
                <a:solidFill>
                  <a:srgbClr val="1A1730"/>
                </a:solidFill>
                <a:latin typeface="Cambria" pitchFamily="34" charset="0"/>
                <a:ea typeface="Cambria" pitchFamily="34" charset="-122"/>
                <a:cs typeface="Cambria" pitchFamily="34" charset="-120"/>
              </a:rPr>
              <a:t>Try other algorithms</a:t>
            </a:r>
            <a:endParaRPr lang="en-US" sz="1600" dirty="0"/>
          </a:p>
        </p:txBody>
      </p:sp>
      <p:sp>
        <p:nvSpPr>
          <p:cNvPr id="30" name="Text 24"/>
          <p:cNvSpPr/>
          <p:nvPr/>
        </p:nvSpPr>
        <p:spPr>
          <a:xfrm>
            <a:off x="2240280" y="4855464"/>
            <a:ext cx="5943600" cy="32004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Constrained K-Means, hierarchical clustering</a:t>
            </a:r>
            <a:endParaRPr lang="en-US" sz="1150" dirty="0"/>
          </a:p>
        </p:txBody>
      </p:sp>
      <p:sp>
        <p:nvSpPr>
          <p:cNvPr id="31" name="Text 25"/>
          <p:cNvSpPr/>
          <p:nvPr/>
        </p:nvSpPr>
        <p:spPr>
          <a:xfrm>
            <a:off x="8503920" y="4690872"/>
            <a:ext cx="2743200" cy="320040"/>
          </a:xfrm>
          <a:prstGeom prst="rect">
            <a:avLst/>
          </a:prstGeom>
          <a:noFill/>
          <a:ln/>
        </p:spPr>
        <p:txBody>
          <a:bodyPr wrap="square" lIns="0" tIns="0" rIns="0" bIns="0" rtlCol="0" anchor="ctr"/>
          <a:lstStyle/>
          <a:p>
            <a:pPr algn="r" indent="0" marL="0">
              <a:buNone/>
            </a:pPr>
            <a:r>
              <a:rPr lang="en-US" sz="1100" b="1" spc="200" kern="0" dirty="0">
                <a:solidFill>
                  <a:srgbClr val="FF6B6B"/>
                </a:solidFill>
                <a:latin typeface="Calibri" pitchFamily="34" charset="0"/>
                <a:ea typeface="Calibri" pitchFamily="34" charset="-122"/>
                <a:cs typeface="Calibri" pitchFamily="34" charset="-120"/>
              </a:rPr>
              <a:t>ENGINEERING</a:t>
            </a:r>
            <a:endParaRPr lang="en-US" sz="1100" dirty="0"/>
          </a:p>
        </p:txBody>
      </p:sp>
      <p:sp>
        <p:nvSpPr>
          <p:cNvPr id="32" name="Shape 26"/>
          <p:cNvSpPr/>
          <p:nvPr/>
        </p:nvSpPr>
        <p:spPr>
          <a:xfrm>
            <a:off x="731520" y="5349240"/>
            <a:ext cx="10725912" cy="804672"/>
          </a:xfrm>
          <a:prstGeom prst="roundRect">
            <a:avLst>
              <a:gd name="adj" fmla="val 11364"/>
            </a:avLst>
          </a:prstGeom>
          <a:solidFill>
            <a:srgbClr val="FFFFFF"/>
          </a:solidFill>
          <a:ln w="12700">
            <a:solidFill>
              <a:srgbClr val="E4DEF2"/>
            </a:solidFill>
            <a:prstDash val="solid"/>
          </a:ln>
          <a:effectLst>
            <a:outerShdw sx="100000" sy="100000" kx="0" ky="0" algn="bl" rotWithShape="0" blurRad="127000" dist="38100" dir="5400000">
              <a:srgbClr val="6C5CE7">
                <a:alpha val="10000"/>
              </a:srgbClr>
            </a:outerShdw>
          </a:effectLst>
        </p:spPr>
      </p:sp>
      <p:sp>
        <p:nvSpPr>
          <p:cNvPr id="33" name="Shape 27"/>
          <p:cNvSpPr/>
          <p:nvPr/>
        </p:nvSpPr>
        <p:spPr>
          <a:xfrm>
            <a:off x="960120" y="5522976"/>
            <a:ext cx="457200" cy="457200"/>
          </a:xfrm>
          <a:prstGeom prst="ellipse">
            <a:avLst/>
          </a:prstGeom>
          <a:solidFill>
            <a:srgbClr val="6C5CE7"/>
          </a:solidFill>
          <a:ln w="12700">
            <a:solidFill>
              <a:srgbClr val="6C5CE7"/>
            </a:solidFill>
            <a:prstDash val="solid"/>
          </a:ln>
        </p:spPr>
      </p:sp>
      <p:sp>
        <p:nvSpPr>
          <p:cNvPr id="34" name="Text 28"/>
          <p:cNvSpPr/>
          <p:nvPr/>
        </p:nvSpPr>
        <p:spPr>
          <a:xfrm>
            <a:off x="960120" y="55046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pic>
        <p:nvPicPr>
          <p:cNvPr id="35" name="Image 4" descr="preencoded.png">    </p:cNvPr>
          <p:cNvPicPr>
            <a:picLocks noChangeAspect="1"/>
          </p:cNvPicPr>
          <p:nvPr/>
        </p:nvPicPr>
        <p:blipFill>
          <a:blip r:embed="rId5"/>
          <a:stretch>
            <a:fillRect/>
          </a:stretch>
        </p:blipFill>
        <p:spPr>
          <a:xfrm>
            <a:off x="1691640" y="5568696"/>
            <a:ext cx="365760" cy="365760"/>
          </a:xfrm>
          <a:prstGeom prst="rect">
            <a:avLst/>
          </a:prstGeom>
        </p:spPr>
      </p:pic>
      <p:sp>
        <p:nvSpPr>
          <p:cNvPr id="36" name="Text 29"/>
          <p:cNvSpPr/>
          <p:nvPr/>
        </p:nvSpPr>
        <p:spPr>
          <a:xfrm>
            <a:off x="2240280" y="5440680"/>
            <a:ext cx="4846320" cy="365760"/>
          </a:xfrm>
          <a:prstGeom prst="rect">
            <a:avLst/>
          </a:prstGeom>
          <a:noFill/>
          <a:ln/>
        </p:spPr>
        <p:txBody>
          <a:bodyPr wrap="square" lIns="0" tIns="0" rIns="0" bIns="0" rtlCol="0" anchor="ctr"/>
          <a:lstStyle/>
          <a:p>
            <a:pPr indent="0" marL="0">
              <a:buNone/>
            </a:pPr>
            <a:r>
              <a:rPr lang="en-US" sz="1600" b="1" dirty="0">
                <a:solidFill>
                  <a:srgbClr val="1A1730"/>
                </a:solidFill>
                <a:latin typeface="Cambria" pitchFamily="34" charset="0"/>
                <a:ea typeface="Cambria" pitchFamily="34" charset="-122"/>
                <a:cs typeface="Cambria" pitchFamily="34" charset="-120"/>
              </a:rPr>
              <a:t>A/B test vs curators</a:t>
            </a:r>
            <a:endParaRPr lang="en-US" sz="1600" dirty="0"/>
          </a:p>
        </p:txBody>
      </p:sp>
      <p:sp>
        <p:nvSpPr>
          <p:cNvPr id="37" name="Text 30"/>
          <p:cNvSpPr/>
          <p:nvPr/>
        </p:nvSpPr>
        <p:spPr>
          <a:xfrm>
            <a:off x="2240280" y="5769864"/>
            <a:ext cx="5943600" cy="320040"/>
          </a:xfrm>
          <a:prstGeom prst="rect">
            <a:avLst/>
          </a:prstGeom>
          <a:noFill/>
          <a:ln/>
        </p:spPr>
        <p:txBody>
          <a:bodyPr wrap="square" lIns="0" tIns="0" rIns="0" bIns="0" rtlCol="0" anchor="ctr"/>
          <a:lstStyle/>
          <a:p>
            <a:pPr indent="0" marL="0">
              <a:buNone/>
            </a:pPr>
            <a:r>
              <a:rPr lang="en-US" sz="1150" dirty="0">
                <a:solidFill>
                  <a:srgbClr val="8B85A8"/>
                </a:solidFill>
                <a:latin typeface="Calibri" pitchFamily="34" charset="0"/>
                <a:ea typeface="Calibri" pitchFamily="34" charset="-122"/>
                <a:cs typeface="Calibri" pitchFamily="34" charset="-120"/>
              </a:rPr>
              <a:t>Launch 20 ML playlists beside 20 curated ones</a:t>
            </a:r>
            <a:endParaRPr lang="en-US" sz="1150" dirty="0"/>
          </a:p>
        </p:txBody>
      </p:sp>
      <p:sp>
        <p:nvSpPr>
          <p:cNvPr id="38" name="Text 31"/>
          <p:cNvSpPr/>
          <p:nvPr/>
        </p:nvSpPr>
        <p:spPr>
          <a:xfrm>
            <a:off x="8503920" y="5605272"/>
            <a:ext cx="2743200" cy="320040"/>
          </a:xfrm>
          <a:prstGeom prst="rect">
            <a:avLst/>
          </a:prstGeom>
          <a:noFill/>
          <a:ln/>
        </p:spPr>
        <p:txBody>
          <a:bodyPr wrap="square" lIns="0" tIns="0" rIns="0" bIns="0" rtlCol="0" anchor="ctr"/>
          <a:lstStyle/>
          <a:p>
            <a:pPr algn="r" indent="0" marL="0">
              <a:buNone/>
            </a:pPr>
            <a:r>
              <a:rPr lang="en-US" sz="1100" b="1" spc="200" kern="0" dirty="0">
                <a:solidFill>
                  <a:srgbClr val="FF6B6B"/>
                </a:solidFill>
                <a:latin typeface="Calibri" pitchFamily="34" charset="0"/>
                <a:ea typeface="Calibri" pitchFamily="34" charset="-122"/>
                <a:cs typeface="Calibri" pitchFamily="34" charset="-120"/>
              </a:rPr>
              <a:t>VALIDATION</a:t>
            </a:r>
            <a:endParaRPr lang="en-US" sz="1100" dirty="0"/>
          </a:p>
        </p:txBody>
      </p:sp>
      <p:sp>
        <p:nvSpPr>
          <p:cNvPr id="39" name="Text 32"/>
          <p:cNvSpPr/>
          <p:nvPr/>
        </p:nvSpPr>
        <p:spPr>
          <a:xfrm>
            <a:off x="11430000" y="6355080"/>
            <a:ext cx="457200" cy="365760"/>
          </a:xfrm>
          <a:prstGeom prst="rect">
            <a:avLst/>
          </a:prstGeom>
          <a:noFill/>
          <a:ln/>
        </p:spPr>
        <p:txBody>
          <a:bodyPr wrap="square" lIns="0" tIns="0" rIns="0" bIns="0" rtlCol="0" anchor="ctr"/>
          <a:lstStyle/>
          <a:p>
            <a:pPr algn="r" indent="0" marL="0">
              <a:buNone/>
            </a:pPr>
            <a:r>
              <a:rPr lang="en-US" sz="1100" b="1" dirty="0">
                <a:solidFill>
                  <a:srgbClr val="8B85A8"/>
                </a:solidFill>
                <a:latin typeface="Calibri" pitchFamily="34" charset="0"/>
                <a:ea typeface="Calibri" pitchFamily="34" charset="-122"/>
                <a:cs typeface="Calibri" pitchFamily="34" charset="-120"/>
              </a:rPr>
              <a:t>8</a:t>
            </a:r>
            <a:endParaRPr lang="en-US" sz="1100" dirty="0"/>
          </a:p>
        </p:txBody>
      </p:sp>
      <p:sp>
        <p:nvSpPr>
          <p:cNvPr id="40" name="Text 33"/>
          <p:cNvSpPr/>
          <p:nvPr/>
        </p:nvSpPr>
        <p:spPr>
          <a:xfrm>
            <a:off x="548640" y="6355080"/>
            <a:ext cx="3657600" cy="365760"/>
          </a:xfrm>
          <a:prstGeom prst="rect">
            <a:avLst/>
          </a:prstGeom>
          <a:noFill/>
          <a:ln/>
        </p:spPr>
        <p:txBody>
          <a:bodyPr wrap="square" lIns="0" tIns="0" rIns="0" bIns="0" rtlCol="0" anchor="ctr"/>
          <a:lstStyle/>
          <a:p>
            <a:pPr indent="0" marL="0">
              <a:buNone/>
            </a:pPr>
            <a:r>
              <a:rPr lang="en-US" sz="900" b="1" spc="300" kern="0" dirty="0">
                <a:solidFill>
                  <a:srgbClr val="8B85A8"/>
                </a:solidFill>
                <a:latin typeface="Calibri" pitchFamily="34" charset="0"/>
                <a:ea typeface="Calibri" pitchFamily="34" charset="-122"/>
                <a:cs typeface="Calibri" pitchFamily="34" charset="-120"/>
              </a:rPr>
              <a:t>MOOSIC  ·  ML PROTOTYPE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22B"/>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75000"/>
          </a:blip>
          <a:stretch>
            <a:fillRect/>
          </a:stretch>
        </p:blipFill>
        <p:spPr>
          <a:xfrm>
            <a:off x="-1828800" y="1371600"/>
            <a:ext cx="4572000" cy="4572000"/>
          </a:xfrm>
          <a:prstGeom prst="rect">
            <a:avLst/>
          </a:prstGeom>
        </p:spPr>
      </p:pic>
      <p:pic>
        <p:nvPicPr>
          <p:cNvPr id="3" name="Image 1" descr="preencoded.png">    </p:cNvPr>
          <p:cNvPicPr>
            <a:picLocks noChangeAspect="1"/>
          </p:cNvPicPr>
          <p:nvPr/>
        </p:nvPicPr>
        <p:blipFill>
          <a:blip r:embed="rId2">
            <a:alphaModFix amt="65000"/>
          </a:blip>
          <a:stretch>
            <a:fillRect/>
          </a:stretch>
        </p:blipFill>
        <p:spPr>
          <a:xfrm>
            <a:off x="0" y="5486400"/>
            <a:ext cx="12188952" cy="1371600"/>
          </a:xfrm>
          <a:prstGeom prst="rect">
            <a:avLst/>
          </a:prstGeom>
        </p:spPr>
      </p:pic>
      <p:pic>
        <p:nvPicPr>
          <p:cNvPr id="4" name="Image 2" descr="preencoded.png">    </p:cNvPr>
          <p:cNvPicPr>
            <a:picLocks noChangeAspect="1"/>
          </p:cNvPicPr>
          <p:nvPr/>
        </p:nvPicPr>
        <p:blipFill>
          <a:blip r:embed="rId3">
            <a:alphaModFix amt="30000"/>
          </a:blip>
          <a:stretch>
            <a:fillRect/>
          </a:stretch>
        </p:blipFill>
        <p:spPr>
          <a:xfrm>
            <a:off x="8869680" y="640080"/>
            <a:ext cx="2377440" cy="2377440"/>
          </a:xfrm>
          <a:prstGeom prst="rect">
            <a:avLst/>
          </a:prstGeom>
        </p:spPr>
      </p:pic>
      <p:sp>
        <p:nvSpPr>
          <p:cNvPr id="5" name="Text 0"/>
          <p:cNvSpPr/>
          <p:nvPr/>
        </p:nvSpPr>
        <p:spPr>
          <a:xfrm>
            <a:off x="731520" y="1737360"/>
            <a:ext cx="10515600" cy="365760"/>
          </a:xfrm>
          <a:prstGeom prst="rect">
            <a:avLst/>
          </a:prstGeom>
          <a:noFill/>
          <a:ln/>
        </p:spPr>
        <p:txBody>
          <a:bodyPr wrap="square" lIns="0" tIns="0" rIns="0" bIns="0" rtlCol="0" anchor="ctr"/>
          <a:lstStyle/>
          <a:p>
            <a:pPr indent="0" marL="0">
              <a:buNone/>
            </a:pPr>
            <a:r>
              <a:rPr lang="en-US" sz="1300" b="1" spc="400" kern="0" dirty="0">
                <a:solidFill>
                  <a:srgbClr val="FF6B6B"/>
                </a:solidFill>
                <a:latin typeface="Calibri" pitchFamily="34" charset="0"/>
                <a:ea typeface="Calibri" pitchFamily="34" charset="-122"/>
                <a:cs typeface="Calibri" pitchFamily="34" charset="-120"/>
              </a:rPr>
              <a:t>THE RECOMMENDATION</a:t>
            </a:r>
            <a:endParaRPr lang="en-US" sz="1300" dirty="0"/>
          </a:p>
        </p:txBody>
      </p:sp>
      <p:sp>
        <p:nvSpPr>
          <p:cNvPr id="6" name="Text 1"/>
          <p:cNvSpPr/>
          <p:nvPr/>
        </p:nvSpPr>
        <p:spPr>
          <a:xfrm>
            <a:off x="731520" y="2194560"/>
            <a:ext cx="10515600" cy="1645920"/>
          </a:xfrm>
          <a:prstGeom prst="rect">
            <a:avLst/>
          </a:prstGeom>
          <a:noFill/>
          <a:ln/>
        </p:spPr>
        <p:txBody>
          <a:bodyPr wrap="square" lIns="0" tIns="0" rIns="0" bIns="0" rtlCol="0" anchor="ctr"/>
          <a:lstStyle/>
          <a:p>
            <a:pPr indent="0" marL="0">
              <a:lnSpc>
                <a:spcPct val="100000"/>
              </a:lnSpc>
              <a:buNone/>
            </a:pPr>
            <a:r>
              <a:rPr lang="en-US" sz="4600" b="1" dirty="0">
                <a:solidFill>
                  <a:srgbClr val="FFFFFF"/>
                </a:solidFill>
                <a:latin typeface="Cambria" pitchFamily="34" charset="0"/>
                <a:ea typeface="Cambria" pitchFamily="34" charset="-122"/>
                <a:cs typeface="Cambria" pitchFamily="34" charset="-120"/>
              </a:rPr>
              <a:t>Don't replace your curators —
</a:t>
            </a:r>
            <a:pPr indent="0" marL="0">
              <a:lnSpc>
                <a:spcPct val="100000"/>
              </a:lnSpc>
              <a:buNone/>
            </a:pPr>
            <a:r>
              <a:rPr lang="en-US" sz="4600" b="1" dirty="0">
                <a:solidFill>
                  <a:srgbClr val="FF6B6B"/>
                </a:solidFill>
                <a:latin typeface="Cambria" pitchFamily="34" charset="0"/>
                <a:ea typeface="Cambria" pitchFamily="34" charset="-122"/>
                <a:cs typeface="Cambria" pitchFamily="34" charset="-120"/>
              </a:rPr>
              <a:t>augment them.</a:t>
            </a:r>
            <a:endParaRPr lang="en-US" sz="4600" dirty="0"/>
          </a:p>
        </p:txBody>
      </p:sp>
      <p:sp>
        <p:nvSpPr>
          <p:cNvPr id="7" name="Text 2"/>
          <p:cNvSpPr/>
          <p:nvPr/>
        </p:nvSpPr>
        <p:spPr>
          <a:xfrm>
            <a:off x="749808" y="4114800"/>
            <a:ext cx="9601200" cy="914400"/>
          </a:xfrm>
          <a:prstGeom prst="rect">
            <a:avLst/>
          </a:prstGeom>
          <a:noFill/>
          <a:ln/>
        </p:spPr>
        <p:txBody>
          <a:bodyPr wrap="square" rtlCol="0" anchor="ctr"/>
          <a:lstStyle/>
          <a:p>
            <a:pPr indent="0" marL="0">
              <a:buNone/>
            </a:pPr>
            <a:r>
              <a:rPr lang="en-US" sz="1600" dirty="0">
                <a:solidFill>
                  <a:srgbClr val="A29BFE"/>
                </a:solidFill>
                <a:latin typeface="Calibri" pitchFamily="34" charset="0"/>
                <a:ea typeface="Calibri" pitchFamily="34" charset="-122"/>
                <a:cs typeface="Calibri" pitchFamily="34" charset="-120"/>
              </a:rPr>
              <a:t>ML does the heavy lifting in seconds. Your experts add the polish in a day.</a:t>
            </a:r>
            <a:endParaRPr lang="en-US" sz="1600" dirty="0"/>
          </a:p>
          <a:p>
            <a:pPr indent="0" marL="0">
              <a:buNone/>
            </a:pPr>
            <a:r>
              <a:rPr lang="en-US" sz="1600" dirty="0">
                <a:solidFill>
                  <a:srgbClr val="A29BFE"/>
                </a:solidFill>
                <a:latin typeface="Calibri" pitchFamily="34" charset="0"/>
                <a:ea typeface="Calibri" pitchFamily="34" charset="-122"/>
                <a:cs typeface="Calibri" pitchFamily="34" charset="-120"/>
              </a:rPr>
              <a:t>That's how Moosic scales without losing the quality your customers expect.</a:t>
            </a:r>
            <a:endParaRPr lang="en-US" sz="1600" dirty="0"/>
          </a:p>
        </p:txBody>
      </p:sp>
      <p:sp>
        <p:nvSpPr>
          <p:cNvPr id="8" name="Text 3"/>
          <p:cNvSpPr/>
          <p:nvPr/>
        </p:nvSpPr>
        <p:spPr>
          <a:xfrm>
            <a:off x="749808" y="5349240"/>
            <a:ext cx="1051560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Thank you  ·  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Moosic — ML Playlist Prototype</dc:title>
  <dc:subject>PptxGenJS Presentation</dc:subject>
  <dc:creator>Data Science Team</dc:creator>
  <cp:lastModifiedBy>Data Science Team</cp:lastModifiedBy>
  <cp:revision>1</cp:revision>
  <dcterms:created xsi:type="dcterms:W3CDTF">2026-06-15T07:05:31Z</dcterms:created>
  <dcterms:modified xsi:type="dcterms:W3CDTF">2026-06-15T07:05:31Z</dcterms:modified>
</cp:coreProperties>
</file>